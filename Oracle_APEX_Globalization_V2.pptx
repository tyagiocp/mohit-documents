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7772400" cy="100584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249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44040" y="663120"/>
            <a:ext cx="6411600" cy="157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44040" y="2489760"/>
            <a:ext cx="6411600" cy="545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44040" y="663120"/>
            <a:ext cx="6411600" cy="157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44040" y="2489760"/>
            <a:ext cx="6411600" cy="545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6" name="Picture 5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51640" y="2582640"/>
            <a:ext cx="60912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4800" b="1" strike="noStrike" spc="-1">
                <a:solidFill>
                  <a:srgbClr val="0F4761"/>
                </a:solidFill>
                <a:latin typeface="DejaVu Sans"/>
                <a:ea typeface="DejaVu Sans"/>
              </a:rPr>
              <a:t> </a:t>
            </a:r>
            <a:endParaRPr lang="en-US" sz="4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63680" y="2724120"/>
            <a:ext cx="1660320" cy="53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3600" b="1" strike="noStrike" spc="-1">
                <a:solidFill>
                  <a:srgbClr val="0F4761"/>
                </a:solidFill>
                <a:latin typeface="DejaVu Sans"/>
                <a:ea typeface="DejaVu Sans"/>
              </a:rPr>
              <a:t>Oracle</a:t>
            </a: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38920" y="3371760"/>
            <a:ext cx="4897440" cy="53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3600" b="1" strike="noStrike" spc="-1">
                <a:solidFill>
                  <a:srgbClr val="0F4761"/>
                </a:solidFill>
                <a:latin typeface="DejaVu Sans"/>
                <a:ea typeface="DejaVu Sans"/>
              </a:rPr>
              <a:t>APEX Globalization</a:t>
            </a: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6240" y="5870880"/>
            <a:ext cx="2238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An Accenture White Paper by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6240" y="630396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3800" y="6280200"/>
            <a:ext cx="1465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400" b="1" strike="noStrike" spc="-1" dirty="0">
                <a:solidFill>
                  <a:srgbClr val="000000"/>
                </a:solidFill>
                <a:latin typeface="DejaVu Sans"/>
                <a:ea typeface="DejaVu Sans"/>
              </a:rPr>
              <a:t>Vijayan Kumar</a:t>
            </a:r>
            <a:endParaRPr lang="en-US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2800" y="630396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6240" y="65134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(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75640" y="6536880"/>
            <a:ext cx="1985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Vijayan.kumar@accenture.com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58160" y="65134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)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6240" y="6742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64480" y="6718320"/>
            <a:ext cx="24328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400" b="1" strike="noStrike" spc="-1" dirty="0">
                <a:solidFill>
                  <a:srgbClr val="000000"/>
                </a:solidFill>
                <a:latin typeface="DejaVu Sans"/>
                <a:ea typeface="DejaVu Sans"/>
              </a:rPr>
              <a:t>Mohit Tyagi</a:t>
            </a:r>
            <a:endParaRPr lang="en-US" sz="1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6240" y="69552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(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75640" y="6978960"/>
            <a:ext cx="2225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 dirty="0">
                <a:solidFill>
                  <a:srgbClr val="000000"/>
                </a:solidFill>
                <a:latin typeface="DejaVu Sans"/>
                <a:ea typeface="DejaVu Sans"/>
              </a:rPr>
              <a:t>m.kumar.tyagi@accenture.com</a:t>
            </a:r>
            <a:endParaRPr lang="en-US" sz="10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7280" y="69552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)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16240" y="7364160"/>
            <a:ext cx="1046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October 2024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Straight Connector 23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Straight Connector 24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Straight Connector 25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Straight Connector 26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39040" y="9246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4281079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0" name="Picture 29"/>
          <p:cNvPicPr/>
          <p:nvPr/>
        </p:nvPicPr>
        <p:blipFill>
          <a:blip r:embed="rId2"/>
          <a:stretch/>
        </p:blipFill>
        <p:spPr>
          <a:xfrm>
            <a:off x="454639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31" name="Picture 30"/>
          <p:cNvPicPr/>
          <p:nvPr/>
        </p:nvPicPr>
        <p:blipFill>
          <a:blip r:embed="rId3"/>
          <a:stretch/>
        </p:blipFill>
        <p:spPr>
          <a:xfrm>
            <a:off x="4521199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32" name="TextBox 31"/>
          <p:cNvSpPr txBox="1"/>
          <p:nvPr/>
        </p:nvSpPr>
        <p:spPr>
          <a:xfrm>
            <a:off x="407839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7839" y="1537200"/>
            <a:ext cx="17928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Table of Contents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07839" y="1792800"/>
            <a:ext cx="5955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1.EDITOR’S.......................................................................................................3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7839" y="2060640"/>
            <a:ext cx="5950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 dirty="0">
                <a:solidFill>
                  <a:srgbClr val="000000"/>
                </a:solidFill>
                <a:latin typeface="DejaVu Sans"/>
                <a:ea typeface="DejaVu Sans"/>
              </a:rPr>
              <a:t>2.REVIEWED BY................................................................................................3</a:t>
            </a:r>
            <a:endParaRPr lang="en-US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7839" y="2328840"/>
            <a:ext cx="5945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3.OBJECTIVE.....................................................................................................4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07839" y="2596680"/>
            <a:ext cx="59230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4.DISCLAIMER..................................................................................................4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07839" y="2864520"/>
            <a:ext cx="5958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5.OVERVIEW.....................................................................................................4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07839" y="3132720"/>
            <a:ext cx="5918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6.Globalization Oracle APEX Applications........................................................5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0119" y="3400560"/>
            <a:ext cx="5769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6.1 Create desktop navigation menu entries for switching languages.........5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0119" y="3668400"/>
            <a:ext cx="5755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6.2 Create Application Item and Application Process...................................9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60119" y="3936600"/>
            <a:ext cx="5769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6.3 Specifying the primary language for an application.............................11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60119" y="4204440"/>
            <a:ext cx="5772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6.4 Translation of an Application................................................................13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0119" y="4472640"/>
            <a:ext cx="5820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6.5 Test your application.............................................................................23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07839" y="4740480"/>
            <a:ext cx="5959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7. CONCLUSION..............................................................................................23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07839" y="5008320"/>
            <a:ext cx="5942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8.REFERENCES...............................................................................................23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Straight Connector 46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Straight Connector 47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Straight Connector 48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Straight Connector 49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39040" y="9246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2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3" name="Picture 52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54" name="Picture 53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Straight Connector 55"/>
          <p:cNvSpPr/>
          <p:nvPr/>
        </p:nvSpPr>
        <p:spPr>
          <a:xfrm>
            <a:off x="914760" y="2237040"/>
            <a:ext cx="5741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Straight Connector 56"/>
          <p:cNvSpPr/>
          <p:nvPr/>
        </p:nvSpPr>
        <p:spPr>
          <a:xfrm>
            <a:off x="921240" y="2776680"/>
            <a:ext cx="57290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Straight Connector 57"/>
          <p:cNvSpPr/>
          <p:nvPr/>
        </p:nvSpPr>
        <p:spPr>
          <a:xfrm>
            <a:off x="914760" y="3293640"/>
            <a:ext cx="5741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Straight Connector 58"/>
          <p:cNvSpPr/>
          <p:nvPr/>
        </p:nvSpPr>
        <p:spPr>
          <a:xfrm>
            <a:off x="918000" y="2233800"/>
            <a:ext cx="0" cy="10630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Straight Connector 59"/>
          <p:cNvSpPr/>
          <p:nvPr/>
        </p:nvSpPr>
        <p:spPr>
          <a:xfrm>
            <a:off x="1387800" y="2240280"/>
            <a:ext cx="0" cy="10504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Straight Connector 60"/>
          <p:cNvSpPr/>
          <p:nvPr/>
        </p:nvSpPr>
        <p:spPr>
          <a:xfrm>
            <a:off x="2287080" y="2240280"/>
            <a:ext cx="0" cy="10504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Straight Connector 61"/>
          <p:cNvSpPr/>
          <p:nvPr/>
        </p:nvSpPr>
        <p:spPr>
          <a:xfrm>
            <a:off x="3434040" y="2240280"/>
            <a:ext cx="0" cy="10504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Straight Connector 62"/>
          <p:cNvSpPr/>
          <p:nvPr/>
        </p:nvSpPr>
        <p:spPr>
          <a:xfrm>
            <a:off x="6019560" y="2240280"/>
            <a:ext cx="0" cy="10504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Straight Connector 63"/>
          <p:cNvSpPr/>
          <p:nvPr/>
        </p:nvSpPr>
        <p:spPr>
          <a:xfrm>
            <a:off x="6653520" y="2233800"/>
            <a:ext cx="0" cy="10630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15840" y="1537200"/>
            <a:ext cx="145008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0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1.EDITOR’S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07280" y="2241000"/>
            <a:ext cx="294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S.N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02320" y="24188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o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635840" y="2241000"/>
            <a:ext cx="4060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Date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567880" y="2241000"/>
            <a:ext cx="587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Author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384080" y="2241000"/>
            <a:ext cx="689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Email Id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089760" y="2241000"/>
            <a:ext cx="447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Proje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089760" y="2418840"/>
            <a:ext cx="215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ct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089760" y="2596680"/>
            <a:ext cx="377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Role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88200" y="27810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458000" y="2781000"/>
            <a:ext cx="567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03-Oct-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458000" y="2958480"/>
            <a:ext cx="387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2024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357280" y="2781000"/>
            <a:ext cx="810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spc="-1" dirty="0">
                <a:solidFill>
                  <a:srgbClr val="000000"/>
                </a:solidFill>
                <a:latin typeface="DejaVu Sans"/>
              </a:rPr>
              <a:t>Mohit Tyagi</a:t>
            </a:r>
            <a:endParaRPr lang="en-US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089760" y="2781000"/>
            <a:ext cx="477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Team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089760" y="2958480"/>
            <a:ext cx="367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Lead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Straight Connector 83"/>
          <p:cNvSpPr/>
          <p:nvPr/>
        </p:nvSpPr>
        <p:spPr>
          <a:xfrm>
            <a:off x="914760" y="5235480"/>
            <a:ext cx="62902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Straight Connector 84"/>
          <p:cNvSpPr/>
          <p:nvPr/>
        </p:nvSpPr>
        <p:spPr>
          <a:xfrm>
            <a:off x="921240" y="5752440"/>
            <a:ext cx="62776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Straight Connector 85"/>
          <p:cNvSpPr/>
          <p:nvPr/>
        </p:nvSpPr>
        <p:spPr>
          <a:xfrm>
            <a:off x="914760" y="6267960"/>
            <a:ext cx="62902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Straight Connector 86"/>
          <p:cNvSpPr/>
          <p:nvPr/>
        </p:nvSpPr>
        <p:spPr>
          <a:xfrm>
            <a:off x="918000" y="5232240"/>
            <a:ext cx="0" cy="103896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Straight Connector 87"/>
          <p:cNvSpPr/>
          <p:nvPr/>
        </p:nvSpPr>
        <p:spPr>
          <a:xfrm>
            <a:off x="2124360" y="5238720"/>
            <a:ext cx="0" cy="10260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Straight Connector 88"/>
          <p:cNvSpPr/>
          <p:nvPr/>
        </p:nvSpPr>
        <p:spPr>
          <a:xfrm>
            <a:off x="4349520" y="5238720"/>
            <a:ext cx="0" cy="10260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Straight Connector 89"/>
          <p:cNvSpPr/>
          <p:nvPr/>
        </p:nvSpPr>
        <p:spPr>
          <a:xfrm>
            <a:off x="5886360" y="5238720"/>
            <a:ext cx="0" cy="10260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Straight Connector 90"/>
          <p:cNvSpPr/>
          <p:nvPr/>
        </p:nvSpPr>
        <p:spPr>
          <a:xfrm>
            <a:off x="7202160" y="5232240"/>
            <a:ext cx="0" cy="103896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15840" y="4604400"/>
            <a:ext cx="16009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2.REVIEWED BY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276200" y="5239440"/>
            <a:ext cx="492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Name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945160" y="5239440"/>
            <a:ext cx="587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Author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629240" y="5239440"/>
            <a:ext cx="979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Project/Org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930200" y="5443920"/>
            <a:ext cx="377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Role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956200" y="5239440"/>
            <a:ext cx="1075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Review Date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988200" y="5755320"/>
            <a:ext cx="610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Vijayan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88200" y="5959800"/>
            <a:ext cx="500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Kumar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Straight Connector 99"/>
          <p:cNvSpPr/>
          <p:nvPr/>
        </p:nvSpPr>
        <p:spPr>
          <a:xfrm>
            <a:off x="2194560" y="5911560"/>
            <a:ext cx="2043720" cy="0"/>
          </a:xfrm>
          <a:prstGeom prst="line">
            <a:avLst/>
          </a:prstGeom>
          <a:ln w="8640">
            <a:solidFill>
              <a:srgbClr val="0000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194560" y="5755320"/>
            <a:ext cx="2050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 dirty="0" err="1">
                <a:solidFill>
                  <a:srgbClr val="0000FF"/>
                </a:solidFill>
                <a:latin typeface="DejaVu Sans"/>
                <a:ea typeface="DejaVu Sans"/>
              </a:rPr>
              <a:t>vijayan.kumar@accenture</a:t>
            </a:r>
            <a:r>
              <a:rPr lang="en-US" sz="1200" b="0" strike="noStrike" spc="-1" dirty="0">
                <a:solidFill>
                  <a:srgbClr val="0000FF"/>
                </a:solidFill>
                <a:latin typeface="DejaVu Sans"/>
                <a:ea typeface="DejaVu Sans"/>
              </a:rPr>
              <a:t>.</a:t>
            </a:r>
            <a:endParaRPr lang="en-US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Straight Connector 101"/>
          <p:cNvSpPr/>
          <p:nvPr/>
        </p:nvSpPr>
        <p:spPr>
          <a:xfrm>
            <a:off x="2194560" y="6116040"/>
            <a:ext cx="325440" cy="0"/>
          </a:xfrm>
          <a:prstGeom prst="line">
            <a:avLst/>
          </a:prstGeom>
          <a:ln w="8640">
            <a:solidFill>
              <a:srgbClr val="0000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194560" y="5959800"/>
            <a:ext cx="325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FF"/>
                </a:solidFill>
                <a:latin typeface="DejaVu Sans"/>
                <a:ea typeface="DejaVu Sans"/>
              </a:rPr>
              <a:t>com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4419720" y="5755320"/>
            <a:ext cx="668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Manager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956200" y="5755320"/>
            <a:ext cx="954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03-Oct-2024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Straight Connector 105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Straight Connector 106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Straight Connector 107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Straight Connector 108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3839040" y="9246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3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F139CB-43EB-9E6E-33E2-F5AFB8831CBF}"/>
              </a:ext>
            </a:extLst>
          </p:cNvPr>
          <p:cNvSpPr txBox="1"/>
          <p:nvPr/>
        </p:nvSpPr>
        <p:spPr>
          <a:xfrm>
            <a:off x="3483073" y="2782810"/>
            <a:ext cx="2289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m.kumar.tyagi@accenture.com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10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2" name="Picture 111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112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114" name="TextBox 113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915840" y="1537200"/>
            <a:ext cx="159624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0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3.OBJECTIVE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373040" y="1928520"/>
            <a:ext cx="5386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The objective of this white paper is to provide a comprehensive guide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915840" y="2195280"/>
            <a:ext cx="4106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that provide the steps involved in APEX Globalization.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915840" y="2690280"/>
            <a:ext cx="180072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0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4.DISCLAIMER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373040" y="3080520"/>
            <a:ext cx="4670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The information provided in this white paper is based on the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915840" y="3347280"/>
            <a:ext cx="5860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knowledge available at the time of writing, up to October 2024. While every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915840" y="3614040"/>
            <a:ext cx="5794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effort has been made to ensure the accuracy of the content and there may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5840" y="3880800"/>
            <a:ext cx="5831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be updates or changes that are not reflected in this document. Readers are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915840" y="4147200"/>
            <a:ext cx="5805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advised to refer to the official documentation and community resources for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915840" y="4413960"/>
            <a:ext cx="2506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the most up-to-date information.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915840" y="4908960"/>
            <a:ext cx="161604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0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5.OVERVIEW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373040" y="5300640"/>
            <a:ext cx="4911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To run applications built in App Builder concurrently in different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915840" y="5567400"/>
            <a:ext cx="531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languages. By following the steps outlined, you can ensure a smooth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915840" y="5833800"/>
            <a:ext cx="4112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transition and start leveraging the apex globalization.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Straight Connector 128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Straight Connector 129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Straight Connector 130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Straight Connector 131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3839040" y="9246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4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33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5" name="Picture 134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135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137" name="TextBox 136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915840" y="1537200"/>
            <a:ext cx="519012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0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6.Globalization Oracle APEX Applications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1144440" y="1928520"/>
            <a:ext cx="5572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To translate an APEX application, map the primary and target language,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915840" y="2195280"/>
            <a:ext cx="5378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seed and export text to a translation file, translate the text, apply the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915840" y="2462040"/>
            <a:ext cx="4144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translation file, and publish the translated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1144440" y="286632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373040" y="2830320"/>
            <a:ext cx="5031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Create Desktop Navigation menu entries for switching languages.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144440" y="313272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373040" y="3097080"/>
            <a:ext cx="3720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Create Application Item and Application Process.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1144440" y="33994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1373040" y="3363840"/>
            <a:ext cx="392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Specifying the primary language for an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144440" y="366624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373040" y="3630600"/>
            <a:ext cx="2236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Translation of the application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1144440" y="39330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373040" y="3897000"/>
            <a:ext cx="1562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Test the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915840" y="4265280"/>
            <a:ext cx="59014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6.1 Create Desktop Navigation menu entries for switching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915840" y="4537080"/>
            <a:ext cx="10494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languages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144440" y="4860000"/>
            <a:ext cx="5566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Go to App Builder and select an application which you want to Translate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915840" y="5126400"/>
            <a:ext cx="2335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(or) Create a new Application.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1144440" y="5494680"/>
            <a:ext cx="5400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The next step is to create navigation menu entries that will appear on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915840" y="5761440"/>
            <a:ext cx="3886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every page to allow the users to switch languages.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144440" y="618336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373040" y="6129720"/>
            <a:ext cx="2122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Click “Shared Components”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144440" y="655164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373040" y="6498000"/>
            <a:ext cx="3579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Under “Navigation”, click “Navigation Bar List”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144440" y="691992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373040" y="6866280"/>
            <a:ext cx="1699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Click “Navigation Bar”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144440" y="7234560"/>
            <a:ext cx="3365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We will create three navigation bar entries: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144440" y="765648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373040" y="7603200"/>
            <a:ext cx="2257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Currently selected language,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144440" y="802476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1373040" y="7971480"/>
            <a:ext cx="933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English, and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144440" y="839304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373040" y="8339760"/>
            <a:ext cx="660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German.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Straight Connector 170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Straight Connector 171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Straight Connector 172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Straight Connector 173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3839040" y="9246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5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75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7" name="Picture 176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178" name="Picture 177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179" name="TextBox 178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1373040" y="1537560"/>
            <a:ext cx="5482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To create the first entry for displaying the currently selected language,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915840" y="1804320"/>
            <a:ext cx="1510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click “Create Entry”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144440" y="222588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1373040" y="2172600"/>
            <a:ext cx="4737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Parent List Entry — No Parent List Item -Image/Class: fa-globe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1144440" y="259416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1373040" y="2540880"/>
            <a:ext cx="5154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List Entry Label: &amp;FSP_LANGUAGE_PREFERENCE. (Note: A dot after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373040" y="2807640"/>
            <a:ext cx="1968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PREFERENCE is required).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1144440" y="322920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373040" y="3175920"/>
            <a:ext cx="1323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Target Type: URL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1144440" y="359748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1373040" y="3544200"/>
            <a:ext cx="1078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URL Target: #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1144440" y="396576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1373040" y="3912480"/>
            <a:ext cx="2628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Click “Create and Create Another”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3" name="Picture 192"/>
          <p:cNvPicPr/>
          <p:nvPr/>
        </p:nvPicPr>
        <p:blipFill>
          <a:blip r:embed="rId4"/>
          <a:stretch/>
        </p:blipFill>
        <p:spPr>
          <a:xfrm>
            <a:off x="1114560" y="4399920"/>
            <a:ext cx="6345360" cy="2376360"/>
          </a:xfrm>
          <a:prstGeom prst="rect">
            <a:avLst/>
          </a:prstGeom>
          <a:ln w="0">
            <a:noFill/>
          </a:ln>
        </p:spPr>
      </p:pic>
      <p:sp>
        <p:nvSpPr>
          <p:cNvPr id="194" name="TextBox 193"/>
          <p:cNvSpPr txBox="1"/>
          <p:nvPr/>
        </p:nvSpPr>
        <p:spPr>
          <a:xfrm>
            <a:off x="1144440" y="4280760"/>
            <a:ext cx="5686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Creating List Entry for the currently Selected Language in Navigation Bar 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1144440" y="6782760"/>
            <a:ext cx="4120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Set values for the second list entry, English language.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1144440" y="720432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73040" y="7151040"/>
            <a:ext cx="5241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Parent List Entry: &amp;FSP_LANGUAGE_PREFERENCE. (Note: A dot after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373040" y="7417440"/>
            <a:ext cx="1968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PREFERENCE is required).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1144440" y="783936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373040" y="7786080"/>
            <a:ext cx="1829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List Entry Label: English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1144440" y="820764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373040" y="8154360"/>
            <a:ext cx="2800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Target Type: Page in this application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1144440" y="857592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1373040" y="8522640"/>
            <a:ext cx="4220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Page: &amp;APP_PAGE_ID. (Note: A dot after ID is required).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1144440" y="894420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373040" y="8890920"/>
            <a:ext cx="1146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Request: LANG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Straight Connector 206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Straight Connector 207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Straight Connector 208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Straight Connector 209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3839040" y="9246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211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3" name="Picture 212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214" name="Picture 213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215" name="TextBox 214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1144440" y="159084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1373040" y="1537560"/>
            <a:ext cx="3571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Set these items: FSP_LANGUAGE_PREFERENCE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144440" y="195912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1373040" y="1905840"/>
            <a:ext cx="1430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With this value: en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1144440" y="232740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1373040" y="2274120"/>
            <a:ext cx="2628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Click “Create and Create Another”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1144440" y="2642400"/>
            <a:ext cx="5508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Creating List entry for the Second language (English -en)  in Navigation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3" name="Picture 222"/>
          <p:cNvPicPr/>
          <p:nvPr/>
        </p:nvPicPr>
        <p:blipFill>
          <a:blip r:embed="rId4"/>
          <a:stretch/>
        </p:blipFill>
        <p:spPr>
          <a:xfrm>
            <a:off x="1148040" y="2769840"/>
            <a:ext cx="5941440" cy="398412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223"/>
          <p:cNvPicPr/>
          <p:nvPr/>
        </p:nvPicPr>
        <p:blipFill>
          <a:blip r:embed="rId5"/>
          <a:stretch/>
        </p:blipFill>
        <p:spPr>
          <a:xfrm>
            <a:off x="1098720" y="6101640"/>
            <a:ext cx="6143400" cy="2074680"/>
          </a:xfrm>
          <a:prstGeom prst="rect">
            <a:avLst/>
          </a:prstGeom>
          <a:ln w="0">
            <a:noFill/>
          </a:ln>
        </p:spPr>
      </p:pic>
      <p:sp>
        <p:nvSpPr>
          <p:cNvPr id="225" name="TextBox 224"/>
          <p:cNvSpPr txBox="1"/>
          <p:nvPr/>
        </p:nvSpPr>
        <p:spPr>
          <a:xfrm>
            <a:off x="1144440" y="2909160"/>
            <a:ext cx="308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Bar.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1144440" y="8156880"/>
            <a:ext cx="3996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Set values for the third list entry, German language.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1144440" y="857844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373040" y="8525160"/>
            <a:ext cx="5241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Parent List Entry: &amp;FSP_LANGUAGE_PREFERENCE. (Note: A dot after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1373040" y="8791920"/>
            <a:ext cx="1968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PREFERENCE is required).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Straight Connector 229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Straight Connector 230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Straight Connector 231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Straight Connector 232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3839040" y="9246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7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234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6" name="Picture 235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237" name="Picture 236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238" name="TextBox 237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1144440" y="159084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1373040" y="1537560"/>
            <a:ext cx="1892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List Entry Label: German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1144440" y="195912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TextBox 241"/>
          <p:cNvSpPr txBox="1"/>
          <p:nvPr/>
        </p:nvSpPr>
        <p:spPr>
          <a:xfrm>
            <a:off x="1373040" y="1905840"/>
            <a:ext cx="2800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Target Type: Page in this application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1144440" y="232740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1373040" y="2274120"/>
            <a:ext cx="4173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Page: &amp;APP_PAGE_ID. (Note: A dot after ID is required)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1144440" y="269568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1373040" y="2642400"/>
            <a:ext cx="1146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Request: LANG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TextBox 246"/>
          <p:cNvSpPr txBox="1"/>
          <p:nvPr/>
        </p:nvSpPr>
        <p:spPr>
          <a:xfrm>
            <a:off x="1144440" y="306396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1373040" y="3010680"/>
            <a:ext cx="3571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Set these items: FSP_LANGUAGE_PREFERENCE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TextBox 248"/>
          <p:cNvSpPr txBox="1"/>
          <p:nvPr/>
        </p:nvSpPr>
        <p:spPr>
          <a:xfrm>
            <a:off x="1144440" y="343260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TextBox 249"/>
          <p:cNvSpPr txBox="1"/>
          <p:nvPr/>
        </p:nvSpPr>
        <p:spPr>
          <a:xfrm>
            <a:off x="1373040" y="3378960"/>
            <a:ext cx="1430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With this value: de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1144440" y="380088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1373040" y="3747240"/>
            <a:ext cx="1847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Click “Create List Entry”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1144440" y="4169160"/>
            <a:ext cx="1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0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54" name="Picture 253"/>
          <p:cNvPicPr/>
          <p:nvPr/>
        </p:nvPicPr>
        <p:blipFill>
          <a:blip r:embed="rId4"/>
          <a:stretch/>
        </p:blipFill>
        <p:spPr>
          <a:xfrm>
            <a:off x="1105560" y="4045680"/>
            <a:ext cx="5938200" cy="3356280"/>
          </a:xfrm>
          <a:prstGeom prst="rect">
            <a:avLst/>
          </a:prstGeom>
          <a:ln w="0">
            <a:noFill/>
          </a:ln>
        </p:spPr>
      </p:pic>
      <p:sp>
        <p:nvSpPr>
          <p:cNvPr id="255" name="TextBox 254"/>
          <p:cNvSpPr txBox="1"/>
          <p:nvPr/>
        </p:nvSpPr>
        <p:spPr>
          <a:xfrm>
            <a:off x="1373040" y="4115520"/>
            <a:ext cx="5459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Creating List entry for Third language (German - de) in Navigation Bar 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Straight Connector 255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Straight Connector 256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Straight Connector 257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Straight Connector 258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3839040" y="9246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8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260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2" name="Picture 261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263" name="Picture 262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pic>
        <p:nvPicPr>
          <p:cNvPr id="264" name="Picture 263"/>
          <p:cNvPicPr/>
          <p:nvPr/>
        </p:nvPicPr>
        <p:blipFill>
          <a:blip r:embed="rId4"/>
          <a:stretch/>
        </p:blipFill>
        <p:spPr>
          <a:xfrm>
            <a:off x="1146240" y="759960"/>
            <a:ext cx="5936760" cy="2784600"/>
          </a:xfrm>
          <a:prstGeom prst="rect">
            <a:avLst/>
          </a:prstGeom>
          <a:ln w="0">
            <a:noFill/>
          </a:ln>
        </p:spPr>
      </p:pic>
      <p:sp>
        <p:nvSpPr>
          <p:cNvPr id="265" name="TextBox 264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TextBox 265"/>
          <p:cNvSpPr txBox="1"/>
          <p:nvPr/>
        </p:nvSpPr>
        <p:spPr>
          <a:xfrm>
            <a:off x="915840" y="3799080"/>
            <a:ext cx="5336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6.2 Create Application Item and Application Process 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1373040" y="4122000"/>
            <a:ext cx="4043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To create an application item, follow the below steps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1373040" y="452592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TextBox 268"/>
          <p:cNvSpPr txBox="1"/>
          <p:nvPr/>
        </p:nvSpPr>
        <p:spPr>
          <a:xfrm>
            <a:off x="1601640" y="4490280"/>
            <a:ext cx="4286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Shared Components →Application Logic →Create →then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1373040" y="48942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TextBox 270"/>
          <p:cNvSpPr txBox="1"/>
          <p:nvPr/>
        </p:nvSpPr>
        <p:spPr>
          <a:xfrm>
            <a:off x="1601640" y="4858560"/>
            <a:ext cx="2874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Name | FSP_LANGUAGE_PREFERNECE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1373040" y="526284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1601640" y="5226840"/>
            <a:ext cx="1463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Scope | Application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TextBox 273"/>
          <p:cNvSpPr txBox="1"/>
          <p:nvPr/>
        </p:nvSpPr>
        <p:spPr>
          <a:xfrm>
            <a:off x="1373040" y="563112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1601640" y="5595120"/>
            <a:ext cx="5031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Session state problem | Checksum Required – Application Level →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1373040" y="59994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1601640" y="5963400"/>
            <a:ext cx="1850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Create Application item.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8" name="Picture 277"/>
          <p:cNvPicPr/>
          <p:nvPr/>
        </p:nvPicPr>
        <p:blipFill>
          <a:blip r:embed="rId5"/>
          <a:stretch/>
        </p:blipFill>
        <p:spPr>
          <a:xfrm>
            <a:off x="1356480" y="6370920"/>
            <a:ext cx="6225840" cy="3307320"/>
          </a:xfrm>
          <a:prstGeom prst="rect">
            <a:avLst/>
          </a:prstGeom>
          <a:ln w="0">
            <a:noFill/>
          </a:ln>
        </p:spPr>
      </p:pic>
      <p:sp>
        <p:nvSpPr>
          <p:cNvPr id="279" name="TextBox 278"/>
          <p:cNvSpPr txBox="1"/>
          <p:nvPr/>
        </p:nvSpPr>
        <p:spPr>
          <a:xfrm>
            <a:off x="1373040" y="6331680"/>
            <a:ext cx="4138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Select an Application Items from Shared Components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Straight Connector 279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Straight Connector 280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Straight Connector 281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Straight Connector 282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3839040" y="9246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9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Box 284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86" name="Picture 285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287" name="Picture 286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288" name="TextBox 287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89" name="Picture 288"/>
          <p:cNvPicPr/>
          <p:nvPr/>
        </p:nvPicPr>
        <p:blipFill>
          <a:blip r:embed="rId4"/>
          <a:stretch/>
        </p:blipFill>
        <p:spPr>
          <a:xfrm>
            <a:off x="1371600" y="1479600"/>
            <a:ext cx="6130080" cy="4113720"/>
          </a:xfrm>
          <a:prstGeom prst="rect">
            <a:avLst/>
          </a:prstGeom>
          <a:ln w="0">
            <a:noFill/>
          </a:ln>
        </p:spPr>
      </p:pic>
      <p:sp>
        <p:nvSpPr>
          <p:cNvPr id="290" name="TextBox 289"/>
          <p:cNvSpPr txBox="1"/>
          <p:nvPr/>
        </p:nvSpPr>
        <p:spPr>
          <a:xfrm>
            <a:off x="1373040" y="1537560"/>
            <a:ext cx="1158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Click on Create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91" name="Picture 290"/>
          <p:cNvPicPr/>
          <p:nvPr/>
        </p:nvPicPr>
        <p:blipFill>
          <a:blip r:embed="rId5"/>
          <a:stretch/>
        </p:blipFill>
        <p:spPr>
          <a:xfrm>
            <a:off x="1333440" y="2932560"/>
            <a:ext cx="6265800" cy="2682000"/>
          </a:xfrm>
          <a:prstGeom prst="rect">
            <a:avLst/>
          </a:prstGeom>
          <a:ln w="0">
            <a:noFill/>
          </a:ln>
        </p:spPr>
      </p:pic>
      <p:sp>
        <p:nvSpPr>
          <p:cNvPr id="292" name="TextBox 291"/>
          <p:cNvSpPr txBox="1"/>
          <p:nvPr/>
        </p:nvSpPr>
        <p:spPr>
          <a:xfrm>
            <a:off x="1373040" y="3292560"/>
            <a:ext cx="5279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Fill the Details as mentioned above for FSP_LANGUAGE_PREFERNECE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915840" y="5871960"/>
            <a:ext cx="4287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To create an application process, follow the below steps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915840" y="6240240"/>
            <a:ext cx="3891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Shared Components →Application Logic →Create →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1144440" y="664452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1373040" y="6608520"/>
            <a:ext cx="1616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Name | set_language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1144440" y="69112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1373040" y="6875280"/>
            <a:ext cx="997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Sequence | 1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1144440" y="71776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1373040" y="7142040"/>
            <a:ext cx="4191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Point |On Load: Before Header (page template header)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1144440" y="744444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1373040" y="7408800"/>
            <a:ext cx="1381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Language |PL/SQL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1144440" y="77112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1373040" y="7675560"/>
            <a:ext cx="489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Code :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1373040" y="7941960"/>
            <a:ext cx="477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BEGIN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TextBox 305"/>
          <p:cNvSpPr txBox="1"/>
          <p:nvPr/>
        </p:nvSpPr>
        <p:spPr>
          <a:xfrm>
            <a:off x="1373040" y="8208720"/>
            <a:ext cx="4161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apex_util.redirect_url(p_url =&gt; '&amp;APP_PAGE_ALIAS.'||'?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1373040" y="8475480"/>
            <a:ext cx="2227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session='||'&amp;APP_SESSION.');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1373040" y="8742240"/>
            <a:ext cx="378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END;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Straight Connector 308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Straight Connector 309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Straight Connector 310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Straight Connector 311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10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313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15" name="Picture 314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316" name="Picture 315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317" name="TextBox 316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1144440" y="15732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1373040" y="1537560"/>
            <a:ext cx="4766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Condition Type | Request = Expression 1. Expression1 | LANG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20" name="Picture 319"/>
          <p:cNvPicPr/>
          <p:nvPr/>
        </p:nvPicPr>
        <p:blipFill>
          <a:blip r:embed="rId4"/>
          <a:stretch/>
        </p:blipFill>
        <p:spPr>
          <a:xfrm>
            <a:off x="1828800" y="2070000"/>
            <a:ext cx="5341320" cy="2357280"/>
          </a:xfrm>
          <a:prstGeom prst="rect">
            <a:avLst/>
          </a:prstGeom>
          <a:ln w="0">
            <a:noFill/>
          </a:ln>
        </p:spPr>
      </p:pic>
      <p:sp>
        <p:nvSpPr>
          <p:cNvPr id="321" name="TextBox 320"/>
          <p:cNvSpPr txBox="1"/>
          <p:nvPr/>
        </p:nvSpPr>
        <p:spPr>
          <a:xfrm>
            <a:off x="2306160" y="1804320"/>
            <a:ext cx="3629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Create an Application Process as Set_Language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22" name="Picture 321"/>
          <p:cNvPicPr/>
          <p:nvPr/>
        </p:nvPicPr>
        <p:blipFill>
          <a:blip r:embed="rId5"/>
          <a:stretch/>
        </p:blipFill>
        <p:spPr>
          <a:xfrm>
            <a:off x="1828800" y="5050080"/>
            <a:ext cx="5485320" cy="903960"/>
          </a:xfrm>
          <a:prstGeom prst="rect">
            <a:avLst/>
          </a:prstGeom>
          <a:ln w="0">
            <a:noFill/>
          </a:ln>
        </p:spPr>
      </p:pic>
      <p:sp>
        <p:nvSpPr>
          <p:cNvPr id="323" name="TextBox 322"/>
          <p:cNvSpPr txBox="1"/>
          <p:nvPr/>
        </p:nvSpPr>
        <p:spPr>
          <a:xfrm>
            <a:off x="2702520" y="4784760"/>
            <a:ext cx="2827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Enter the PL/SQL code in Code Editor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24" name="Picture 323"/>
          <p:cNvPicPr/>
          <p:nvPr/>
        </p:nvPicPr>
        <p:blipFill>
          <a:blip r:embed="rId6"/>
          <a:stretch/>
        </p:blipFill>
        <p:spPr>
          <a:xfrm>
            <a:off x="1362600" y="5339880"/>
            <a:ext cx="7321680" cy="4114440"/>
          </a:xfrm>
          <a:prstGeom prst="rect">
            <a:avLst/>
          </a:prstGeom>
          <a:ln w="0">
            <a:noFill/>
          </a:ln>
        </p:spPr>
      </p:pic>
      <p:sp>
        <p:nvSpPr>
          <p:cNvPr id="325" name="TextBox 324"/>
          <p:cNvSpPr txBox="1"/>
          <p:nvPr/>
        </p:nvSpPr>
        <p:spPr>
          <a:xfrm>
            <a:off x="3533040" y="6044760"/>
            <a:ext cx="1622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Enter the below code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915840" y="7427880"/>
            <a:ext cx="5921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After following the above steps, we have created navigation menu entries for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915840" y="7694640"/>
            <a:ext cx="2993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switching languages in the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Straight Connector 327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Straight Connector 328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Straight Connector 329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Straight Connector 330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11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Box 332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4" name="Picture 333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335" name="Picture 334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pic>
        <p:nvPicPr>
          <p:cNvPr id="336" name="Picture 335"/>
          <p:cNvPicPr/>
          <p:nvPr/>
        </p:nvPicPr>
        <p:blipFill>
          <a:blip r:embed="rId4"/>
          <a:stretch/>
        </p:blipFill>
        <p:spPr>
          <a:xfrm>
            <a:off x="816480" y="1226880"/>
            <a:ext cx="5942520" cy="3342240"/>
          </a:xfrm>
          <a:prstGeom prst="rect">
            <a:avLst/>
          </a:prstGeom>
          <a:ln w="0">
            <a:noFill/>
          </a:ln>
        </p:spPr>
      </p:pic>
      <p:sp>
        <p:nvSpPr>
          <p:cNvPr id="337" name="TextBox 336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TextBox 337"/>
          <p:cNvSpPr txBox="1"/>
          <p:nvPr/>
        </p:nvSpPr>
        <p:spPr>
          <a:xfrm>
            <a:off x="915840" y="4888800"/>
            <a:ext cx="5627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6.3 Specifying the primary language for the application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TextBox 338"/>
          <p:cNvSpPr txBox="1"/>
          <p:nvPr/>
        </p:nvSpPr>
        <p:spPr>
          <a:xfrm>
            <a:off x="1144440" y="5211720"/>
            <a:ext cx="4059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Below are the two ways to specify primary language.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TextBox 339"/>
          <p:cNvSpPr txBox="1"/>
          <p:nvPr/>
        </p:nvSpPr>
        <p:spPr>
          <a:xfrm>
            <a:off x="1144440" y="555336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TextBox 340"/>
          <p:cNvSpPr txBox="1"/>
          <p:nvPr/>
        </p:nvSpPr>
        <p:spPr>
          <a:xfrm>
            <a:off x="1373040" y="5517720"/>
            <a:ext cx="5351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Workspace homepage → Edit Application Definition → Globalization →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TextBox 341"/>
          <p:cNvSpPr txBox="1"/>
          <p:nvPr/>
        </p:nvSpPr>
        <p:spPr>
          <a:xfrm>
            <a:off x="1373040" y="5784480"/>
            <a:ext cx="5444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select Primary Language _English (en) ,   Application Language derived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TextBox 342"/>
          <p:cNvSpPr txBox="1"/>
          <p:nvPr/>
        </p:nvSpPr>
        <p:spPr>
          <a:xfrm>
            <a:off x="1373040" y="6051240"/>
            <a:ext cx="3763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from : Item preference and remaining as Default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TextBox 343"/>
          <p:cNvSpPr txBox="1"/>
          <p:nvPr/>
        </p:nvSpPr>
        <p:spPr>
          <a:xfrm>
            <a:off x="1144440" y="635364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TextBox 344"/>
          <p:cNvSpPr txBox="1"/>
          <p:nvPr/>
        </p:nvSpPr>
        <p:spPr>
          <a:xfrm>
            <a:off x="1373040" y="6317640"/>
            <a:ext cx="5267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Workspace homepage → App builder → Shared Components →Under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TextBox 345"/>
          <p:cNvSpPr txBox="1"/>
          <p:nvPr/>
        </p:nvSpPr>
        <p:spPr>
          <a:xfrm>
            <a:off x="1373040" y="6584400"/>
            <a:ext cx="5171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Globalization → Globalization attributes → select Primary Language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TextBox 346"/>
          <p:cNvSpPr txBox="1"/>
          <p:nvPr/>
        </p:nvSpPr>
        <p:spPr>
          <a:xfrm>
            <a:off x="1373040" y="6851160"/>
            <a:ext cx="5473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_English (en), Application Language derived from: Item preference and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TextBox 347"/>
          <p:cNvSpPr txBox="1"/>
          <p:nvPr/>
        </p:nvSpPr>
        <p:spPr>
          <a:xfrm>
            <a:off x="1373040" y="7117920"/>
            <a:ext cx="16480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remaining as Default.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TextBox 348"/>
          <p:cNvSpPr txBox="1"/>
          <p:nvPr/>
        </p:nvSpPr>
        <p:spPr>
          <a:xfrm>
            <a:off x="1869480" y="7486200"/>
            <a:ext cx="4069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To access Globalization to specify Primary Language.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Straight Connector 349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Straight Connector 350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Straight Connector 351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Straight Connector 352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TextBox 353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12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Box 354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6" name="Picture 355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357" name="Picture 356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pic>
        <p:nvPicPr>
          <p:cNvPr id="358" name="Picture 357"/>
          <p:cNvPicPr/>
          <p:nvPr/>
        </p:nvPicPr>
        <p:blipFill>
          <a:blip r:embed="rId4"/>
          <a:stretch/>
        </p:blipFill>
        <p:spPr>
          <a:xfrm>
            <a:off x="914400" y="1536840"/>
            <a:ext cx="5772600" cy="3657960"/>
          </a:xfrm>
          <a:prstGeom prst="rect">
            <a:avLst/>
          </a:prstGeom>
          <a:ln w="0">
            <a:noFill/>
          </a:ln>
        </p:spPr>
      </p:pic>
      <p:sp>
        <p:nvSpPr>
          <p:cNvPr id="359" name="TextBox 358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TextBox 359"/>
          <p:cNvSpPr txBox="1"/>
          <p:nvPr/>
        </p:nvSpPr>
        <p:spPr>
          <a:xfrm>
            <a:off x="1373040" y="5630760"/>
            <a:ext cx="5285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Select the Globalization Attribute then Specify the primary language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1" name="Picture 360"/>
          <p:cNvPicPr/>
          <p:nvPr/>
        </p:nvPicPr>
        <p:blipFill>
          <a:blip r:embed="rId5"/>
          <a:stretch/>
        </p:blipFill>
        <p:spPr>
          <a:xfrm>
            <a:off x="914400" y="6139800"/>
            <a:ext cx="5626440" cy="2673000"/>
          </a:xfrm>
          <a:prstGeom prst="rect">
            <a:avLst/>
          </a:prstGeom>
          <a:ln w="0">
            <a:noFill/>
          </a:ln>
        </p:spPr>
      </p:pic>
      <p:sp>
        <p:nvSpPr>
          <p:cNvPr id="362" name="TextBox 361"/>
          <p:cNvSpPr txBox="1"/>
          <p:nvPr/>
        </p:nvSpPr>
        <p:spPr>
          <a:xfrm>
            <a:off x="1373040" y="5835240"/>
            <a:ext cx="4580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and Application Language derived from then Apply changes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Straight Connector 362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Straight Connector 363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Straight Connector 364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Straight Connector 365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TextBox 366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13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Freeform: Shape 367"/>
          <p:cNvSpPr/>
          <p:nvPr/>
        </p:nvSpPr>
        <p:spPr>
          <a:xfrm>
            <a:off x="1142280" y="1982880"/>
            <a:ext cx="5715360" cy="444960"/>
          </a:xfrm>
          <a:custGeom>
            <a:avLst/>
            <a:gdLst/>
            <a:ahLst/>
            <a:cxnLst/>
            <a:rect l="0" t="0" r="r" b="b"/>
            <a:pathLst>
              <a:path w="15876" h="1236">
                <a:moveTo>
                  <a:pt x="0" y="0"/>
                </a:moveTo>
                <a:lnTo>
                  <a:pt x="15876" y="0"/>
                </a:lnTo>
                <a:lnTo>
                  <a:pt x="15876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Freeform: Shape 368"/>
          <p:cNvSpPr/>
          <p:nvPr/>
        </p:nvSpPr>
        <p:spPr>
          <a:xfrm>
            <a:off x="1142280" y="3151440"/>
            <a:ext cx="5715360" cy="178200"/>
          </a:xfrm>
          <a:custGeom>
            <a:avLst/>
            <a:gdLst/>
            <a:ahLst/>
            <a:cxnLst/>
            <a:rect l="0" t="0" r="r" b="b"/>
            <a:pathLst>
              <a:path w="15876" h="495">
                <a:moveTo>
                  <a:pt x="0" y="0"/>
                </a:moveTo>
                <a:lnTo>
                  <a:pt x="15876" y="0"/>
                </a:lnTo>
                <a:lnTo>
                  <a:pt x="15876" y="495"/>
                </a:lnTo>
                <a:lnTo>
                  <a:pt x="0" y="4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Freeform: Shape 369"/>
          <p:cNvSpPr/>
          <p:nvPr/>
        </p:nvSpPr>
        <p:spPr>
          <a:xfrm>
            <a:off x="1142280" y="3328560"/>
            <a:ext cx="5715360" cy="267480"/>
          </a:xfrm>
          <a:custGeom>
            <a:avLst/>
            <a:gdLst/>
            <a:ahLst/>
            <a:cxnLst/>
            <a:rect l="0" t="0" r="r" b="b"/>
            <a:pathLst>
              <a:path w="15876" h="743">
                <a:moveTo>
                  <a:pt x="0" y="0"/>
                </a:moveTo>
                <a:lnTo>
                  <a:pt x="15876" y="0"/>
                </a:lnTo>
                <a:lnTo>
                  <a:pt x="15876" y="743"/>
                </a:lnTo>
                <a:lnTo>
                  <a:pt x="0" y="7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Freeform: Shape 370"/>
          <p:cNvSpPr/>
          <p:nvPr/>
        </p:nvSpPr>
        <p:spPr>
          <a:xfrm>
            <a:off x="1142280" y="1982880"/>
            <a:ext cx="5715360" cy="444960"/>
          </a:xfrm>
          <a:custGeom>
            <a:avLst/>
            <a:gdLst/>
            <a:ahLst/>
            <a:cxnLst/>
            <a:rect l="0" t="0" r="r" b="b"/>
            <a:pathLst>
              <a:path w="15876" h="1236">
                <a:moveTo>
                  <a:pt x="0" y="0"/>
                </a:moveTo>
                <a:lnTo>
                  <a:pt x="15876" y="0"/>
                </a:lnTo>
                <a:lnTo>
                  <a:pt x="15876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Freeform: Shape 371"/>
          <p:cNvSpPr/>
          <p:nvPr/>
        </p:nvSpPr>
        <p:spPr>
          <a:xfrm>
            <a:off x="1142280" y="3151440"/>
            <a:ext cx="5715360" cy="178200"/>
          </a:xfrm>
          <a:custGeom>
            <a:avLst/>
            <a:gdLst/>
            <a:ahLst/>
            <a:cxnLst/>
            <a:rect l="0" t="0" r="r" b="b"/>
            <a:pathLst>
              <a:path w="15876" h="495">
                <a:moveTo>
                  <a:pt x="0" y="0"/>
                </a:moveTo>
                <a:lnTo>
                  <a:pt x="15876" y="0"/>
                </a:lnTo>
                <a:lnTo>
                  <a:pt x="15876" y="495"/>
                </a:lnTo>
                <a:lnTo>
                  <a:pt x="0" y="4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Freeform: Shape 372"/>
          <p:cNvSpPr/>
          <p:nvPr/>
        </p:nvSpPr>
        <p:spPr>
          <a:xfrm>
            <a:off x="1142280" y="3328560"/>
            <a:ext cx="5715360" cy="267480"/>
          </a:xfrm>
          <a:custGeom>
            <a:avLst/>
            <a:gdLst/>
            <a:ahLst/>
            <a:cxnLst/>
            <a:rect l="0" t="0" r="r" b="b"/>
            <a:pathLst>
              <a:path w="15876" h="743">
                <a:moveTo>
                  <a:pt x="0" y="0"/>
                </a:moveTo>
                <a:lnTo>
                  <a:pt x="15876" y="0"/>
                </a:lnTo>
                <a:lnTo>
                  <a:pt x="15876" y="743"/>
                </a:lnTo>
                <a:lnTo>
                  <a:pt x="0" y="7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TextBox 373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5" name="Picture 374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376" name="Picture 375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377" name="TextBox 376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TextBox 377"/>
          <p:cNvSpPr txBox="1"/>
          <p:nvPr/>
        </p:nvSpPr>
        <p:spPr>
          <a:xfrm>
            <a:off x="915840" y="1537200"/>
            <a:ext cx="3429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00" b="1" strike="noStrike" spc="-1">
                <a:solidFill>
                  <a:srgbClr val="0F4761"/>
                </a:solidFill>
                <a:latin typeface="DejaVu Sans"/>
                <a:ea typeface="DejaVu Sans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6.4 Translation of an Application 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TextBox 378"/>
          <p:cNvSpPr txBox="1"/>
          <p:nvPr/>
        </p:nvSpPr>
        <p:spPr>
          <a:xfrm>
            <a:off x="1144440" y="201924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TextBox 379"/>
          <p:cNvSpPr txBox="1"/>
          <p:nvPr/>
        </p:nvSpPr>
        <p:spPr>
          <a:xfrm>
            <a:off x="1373040" y="1983240"/>
            <a:ext cx="5354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Go to Workspace Home page →Shared Components →Globalization →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TextBox 380"/>
          <p:cNvSpPr txBox="1"/>
          <p:nvPr/>
        </p:nvSpPr>
        <p:spPr>
          <a:xfrm>
            <a:off x="1373040" y="2250000"/>
            <a:ext cx="1847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Application translations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TextBox 381"/>
          <p:cNvSpPr txBox="1"/>
          <p:nvPr/>
        </p:nvSpPr>
        <p:spPr>
          <a:xfrm>
            <a:off x="1144440" y="25524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TextBox 382"/>
          <p:cNvSpPr txBox="1"/>
          <p:nvPr/>
        </p:nvSpPr>
        <p:spPr>
          <a:xfrm>
            <a:off x="1373040" y="2516760"/>
            <a:ext cx="4683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To review the candidate objects, click the number link under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TextBox 383"/>
          <p:cNvSpPr txBox="1"/>
          <p:nvPr/>
        </p:nvSpPr>
        <p:spPr>
          <a:xfrm>
            <a:off x="1373040" y="2783520"/>
            <a:ext cx="2359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the Candidate Objects column.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TextBox 384"/>
          <p:cNvSpPr txBox="1"/>
          <p:nvPr/>
        </p:nvSpPr>
        <p:spPr>
          <a:xfrm>
            <a:off x="1144440" y="318744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TextBox 385"/>
          <p:cNvSpPr txBox="1"/>
          <p:nvPr/>
        </p:nvSpPr>
        <p:spPr>
          <a:xfrm>
            <a:off x="1373040" y="3151800"/>
            <a:ext cx="544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On the Upgrade page, select the objects to upgrade and click Upgrade.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TextBox 386"/>
          <p:cNvSpPr txBox="1"/>
          <p:nvPr/>
        </p:nvSpPr>
        <p:spPr>
          <a:xfrm>
            <a:off x="1144440" y="34542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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88" name="Picture 387"/>
          <p:cNvPicPr/>
          <p:nvPr/>
        </p:nvPicPr>
        <p:blipFill>
          <a:blip r:embed="rId4"/>
          <a:stretch/>
        </p:blipFill>
        <p:spPr>
          <a:xfrm>
            <a:off x="914400" y="3990240"/>
            <a:ext cx="5943240" cy="2163600"/>
          </a:xfrm>
          <a:prstGeom prst="rect">
            <a:avLst/>
          </a:prstGeom>
          <a:ln w="0">
            <a:noFill/>
          </a:ln>
        </p:spPr>
      </p:pic>
      <p:sp>
        <p:nvSpPr>
          <p:cNvPr id="389" name="TextBox 388"/>
          <p:cNvSpPr txBox="1"/>
          <p:nvPr/>
        </p:nvSpPr>
        <p:spPr>
          <a:xfrm>
            <a:off x="1373040" y="3418560"/>
            <a:ext cx="2303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Run and test your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90" name="Picture 389"/>
          <p:cNvPicPr/>
          <p:nvPr/>
        </p:nvPicPr>
        <p:blipFill>
          <a:blip r:embed="rId5"/>
          <a:stretch/>
        </p:blipFill>
        <p:spPr>
          <a:xfrm>
            <a:off x="914400" y="6894720"/>
            <a:ext cx="5943240" cy="1622160"/>
          </a:xfrm>
          <a:prstGeom prst="rect">
            <a:avLst/>
          </a:prstGeom>
          <a:ln w="0">
            <a:noFill/>
          </a:ln>
        </p:spPr>
      </p:pic>
      <p:sp>
        <p:nvSpPr>
          <p:cNvPr id="391" name="TextBox 390"/>
          <p:cNvSpPr txBox="1"/>
          <p:nvPr/>
        </p:nvSpPr>
        <p:spPr>
          <a:xfrm>
            <a:off x="1373040" y="6589440"/>
            <a:ext cx="4005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Under Globalization - Select Application Translations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TextBox 391"/>
          <p:cNvSpPr txBox="1"/>
          <p:nvPr/>
        </p:nvSpPr>
        <p:spPr>
          <a:xfrm>
            <a:off x="915840" y="8953200"/>
            <a:ext cx="2846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1) Define Application Languages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Straight Connector 392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Straight Connector 393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Straight Connector 394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Straight Connector 395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TextBox 396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14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Box 397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99" name="Picture 398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400" name="Picture 399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401" name="TextBox 400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TextBox 401"/>
          <p:cNvSpPr txBox="1"/>
          <p:nvPr/>
        </p:nvSpPr>
        <p:spPr>
          <a:xfrm>
            <a:off x="1144440" y="1537560"/>
            <a:ext cx="5279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The first step in translating an application is to map the primary and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TextBox 402"/>
          <p:cNvSpPr txBox="1"/>
          <p:nvPr/>
        </p:nvSpPr>
        <p:spPr>
          <a:xfrm>
            <a:off x="915840" y="1804320"/>
            <a:ext cx="5813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target application language. The primary application is an application to be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TextBox 403"/>
          <p:cNvSpPr txBox="1"/>
          <p:nvPr/>
        </p:nvSpPr>
        <p:spPr>
          <a:xfrm>
            <a:off x="915840" y="2071080"/>
            <a:ext cx="5513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translated. The target application is the resulting translated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TextBox 404"/>
          <p:cNvSpPr txBox="1"/>
          <p:nvPr/>
        </p:nvSpPr>
        <p:spPr>
          <a:xfrm>
            <a:off x="1144440" y="24750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06" name="Picture 405"/>
          <p:cNvPicPr/>
          <p:nvPr/>
        </p:nvPicPr>
        <p:blipFill>
          <a:blip r:embed="rId4"/>
          <a:stretch/>
        </p:blipFill>
        <p:spPr>
          <a:xfrm>
            <a:off x="907560" y="2405880"/>
            <a:ext cx="5941800" cy="3342240"/>
          </a:xfrm>
          <a:prstGeom prst="rect">
            <a:avLst/>
          </a:prstGeom>
          <a:ln w="0">
            <a:noFill/>
          </a:ln>
        </p:spPr>
      </p:pic>
      <p:sp>
        <p:nvSpPr>
          <p:cNvPr id="407" name="TextBox 406"/>
          <p:cNvSpPr txBox="1"/>
          <p:nvPr/>
        </p:nvSpPr>
        <p:spPr>
          <a:xfrm>
            <a:off x="1373040" y="2439360"/>
            <a:ext cx="4868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Select Define application Languages in Application translations.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TextBox 407"/>
          <p:cNvSpPr txBox="1"/>
          <p:nvPr/>
        </p:nvSpPr>
        <p:spPr>
          <a:xfrm>
            <a:off x="1144440" y="589896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TextBox 408"/>
          <p:cNvSpPr txBox="1"/>
          <p:nvPr/>
        </p:nvSpPr>
        <p:spPr>
          <a:xfrm>
            <a:off x="1373040" y="5862960"/>
            <a:ext cx="5383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Define application Languages → create →Enter a unique integer value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TextBox 409"/>
          <p:cNvSpPr txBox="1"/>
          <p:nvPr/>
        </p:nvSpPr>
        <p:spPr>
          <a:xfrm>
            <a:off x="1373040" y="6129720"/>
            <a:ext cx="4707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that identifies an application (not the present application id )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TextBox 410"/>
          <p:cNvSpPr txBox="1"/>
          <p:nvPr/>
        </p:nvSpPr>
        <p:spPr>
          <a:xfrm>
            <a:off x="1373040" y="6396480"/>
            <a:ext cx="3917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→Language | Select the language to be translated.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TextBox 411"/>
          <p:cNvSpPr txBox="1"/>
          <p:nvPr/>
        </p:nvSpPr>
        <p:spPr>
          <a:xfrm>
            <a:off x="1144440" y="66988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TextBox 412"/>
          <p:cNvSpPr txBox="1"/>
          <p:nvPr/>
        </p:nvSpPr>
        <p:spPr>
          <a:xfrm>
            <a:off x="1373040" y="6663240"/>
            <a:ext cx="4421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Enter the details as mentioned above and Apply changes.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Straight Connector 413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Straight Connector 414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Straight Connector 415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Straight Connector 416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15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Box 418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20" name="Picture 419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421" name="Picture 420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pic>
        <p:nvPicPr>
          <p:cNvPr id="422" name="Picture 421"/>
          <p:cNvPicPr/>
          <p:nvPr/>
        </p:nvPicPr>
        <p:blipFill>
          <a:blip r:embed="rId4"/>
          <a:stretch/>
        </p:blipFill>
        <p:spPr>
          <a:xfrm>
            <a:off x="914400" y="1536840"/>
            <a:ext cx="5657400" cy="2609640"/>
          </a:xfrm>
          <a:prstGeom prst="rect">
            <a:avLst/>
          </a:prstGeom>
          <a:ln w="0">
            <a:noFill/>
          </a:ln>
        </p:spPr>
      </p:pic>
      <p:sp>
        <p:nvSpPr>
          <p:cNvPr id="423" name="TextBox 422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Freeform: Shape 423"/>
          <p:cNvSpPr/>
          <p:nvPr/>
        </p:nvSpPr>
        <p:spPr>
          <a:xfrm>
            <a:off x="1143000" y="4658040"/>
            <a:ext cx="1925280" cy="177840"/>
          </a:xfrm>
          <a:custGeom>
            <a:avLst/>
            <a:gdLst/>
            <a:ahLst/>
            <a:cxnLst/>
            <a:rect l="0" t="0" r="r" b="b"/>
            <a:pathLst>
              <a:path w="5348" h="494">
                <a:moveTo>
                  <a:pt x="0" y="494"/>
                </a:moveTo>
                <a:lnTo>
                  <a:pt x="5348" y="494"/>
                </a:lnTo>
                <a:lnTo>
                  <a:pt x="5348" y="0"/>
                </a:lnTo>
                <a:lnTo>
                  <a:pt x="0" y="0"/>
                </a:lnTo>
                <a:lnTo>
                  <a:pt x="0" y="49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Freeform: Shape 424"/>
          <p:cNvSpPr/>
          <p:nvPr/>
        </p:nvSpPr>
        <p:spPr>
          <a:xfrm>
            <a:off x="914400" y="5102640"/>
            <a:ext cx="5119200" cy="177480"/>
          </a:xfrm>
          <a:custGeom>
            <a:avLst/>
            <a:gdLst/>
            <a:ahLst/>
            <a:cxnLst/>
            <a:rect l="0" t="0" r="r" b="b"/>
            <a:pathLst>
              <a:path w="14220" h="493">
                <a:moveTo>
                  <a:pt x="0" y="493"/>
                </a:moveTo>
                <a:lnTo>
                  <a:pt x="14220" y="493"/>
                </a:lnTo>
                <a:lnTo>
                  <a:pt x="14220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TextBox 425"/>
          <p:cNvSpPr txBox="1"/>
          <p:nvPr/>
        </p:nvSpPr>
        <p:spPr>
          <a:xfrm>
            <a:off x="915840" y="4658040"/>
            <a:ext cx="2152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1A1816"/>
                </a:solidFill>
                <a:latin typeface="DejaVu Sans"/>
                <a:ea typeface="DejaVu Sans"/>
              </a:rPr>
              <a:t>2) Seed translatable text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Freeform: Shape 426"/>
          <p:cNvSpPr/>
          <p:nvPr/>
        </p:nvSpPr>
        <p:spPr>
          <a:xfrm>
            <a:off x="914400" y="5369400"/>
            <a:ext cx="1149120" cy="177480"/>
          </a:xfrm>
          <a:custGeom>
            <a:avLst/>
            <a:gdLst/>
            <a:ahLst/>
            <a:cxnLst/>
            <a:rect l="0" t="0" r="r" b="b"/>
            <a:pathLst>
              <a:path w="3192" h="493">
                <a:moveTo>
                  <a:pt x="0" y="493"/>
                </a:moveTo>
                <a:lnTo>
                  <a:pt x="3192" y="493"/>
                </a:lnTo>
                <a:lnTo>
                  <a:pt x="3192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TextBox 427"/>
          <p:cNvSpPr txBox="1"/>
          <p:nvPr/>
        </p:nvSpPr>
        <p:spPr>
          <a:xfrm>
            <a:off x="915840" y="5102280"/>
            <a:ext cx="51670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Seed the translation table and then export the translation text to a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TextBox 428"/>
          <p:cNvSpPr txBox="1"/>
          <p:nvPr/>
        </p:nvSpPr>
        <p:spPr>
          <a:xfrm>
            <a:off x="915840" y="5369040"/>
            <a:ext cx="1148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translation file.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Freeform: Shape 429"/>
          <p:cNvSpPr/>
          <p:nvPr/>
        </p:nvSpPr>
        <p:spPr>
          <a:xfrm>
            <a:off x="1371600" y="5814000"/>
            <a:ext cx="2261880" cy="177480"/>
          </a:xfrm>
          <a:custGeom>
            <a:avLst/>
            <a:gdLst/>
            <a:ahLst/>
            <a:cxnLst/>
            <a:rect l="0" t="0" r="r" b="b"/>
            <a:pathLst>
              <a:path w="6283" h="493">
                <a:moveTo>
                  <a:pt x="0" y="493"/>
                </a:moveTo>
                <a:lnTo>
                  <a:pt x="6283" y="493"/>
                </a:lnTo>
                <a:lnTo>
                  <a:pt x="6283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TextBox 430"/>
          <p:cNvSpPr txBox="1"/>
          <p:nvPr/>
        </p:nvSpPr>
        <p:spPr>
          <a:xfrm>
            <a:off x="1144440" y="58492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Freeform: Shape 431"/>
          <p:cNvSpPr/>
          <p:nvPr/>
        </p:nvSpPr>
        <p:spPr>
          <a:xfrm>
            <a:off x="3633120" y="5814000"/>
            <a:ext cx="1088280" cy="177480"/>
          </a:xfrm>
          <a:custGeom>
            <a:avLst/>
            <a:gdLst/>
            <a:ahLst/>
            <a:cxnLst/>
            <a:rect l="0" t="0" r="r" b="b"/>
            <a:pathLst>
              <a:path w="3023" h="493">
                <a:moveTo>
                  <a:pt x="0" y="493"/>
                </a:moveTo>
                <a:lnTo>
                  <a:pt x="3023" y="493"/>
                </a:lnTo>
                <a:lnTo>
                  <a:pt x="3023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Freeform: Shape 432"/>
          <p:cNvSpPr/>
          <p:nvPr/>
        </p:nvSpPr>
        <p:spPr>
          <a:xfrm>
            <a:off x="4721760" y="5814000"/>
            <a:ext cx="947160" cy="177480"/>
          </a:xfrm>
          <a:custGeom>
            <a:avLst/>
            <a:gdLst/>
            <a:ahLst/>
            <a:cxnLst/>
            <a:rect l="0" t="0" r="r" b="b"/>
            <a:pathLst>
              <a:path w="2631" h="493">
                <a:moveTo>
                  <a:pt x="0" y="493"/>
                </a:moveTo>
                <a:lnTo>
                  <a:pt x="2631" y="493"/>
                </a:lnTo>
                <a:lnTo>
                  <a:pt x="2631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34" name="Picture 433"/>
          <p:cNvPicPr/>
          <p:nvPr/>
        </p:nvPicPr>
        <p:blipFill>
          <a:blip r:embed="rId5"/>
          <a:stretch/>
        </p:blipFill>
        <p:spPr>
          <a:xfrm>
            <a:off x="914400" y="5904720"/>
            <a:ext cx="5941440" cy="3341520"/>
          </a:xfrm>
          <a:prstGeom prst="rect">
            <a:avLst/>
          </a:prstGeom>
          <a:ln w="0">
            <a:noFill/>
          </a:ln>
        </p:spPr>
      </p:pic>
      <p:sp>
        <p:nvSpPr>
          <p:cNvPr id="435" name="TextBox 434"/>
          <p:cNvSpPr txBox="1"/>
          <p:nvPr/>
        </p:nvSpPr>
        <p:spPr>
          <a:xfrm>
            <a:off x="1373040" y="5813640"/>
            <a:ext cx="4296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Select Seed translatable text in Application translations.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Straight Connector 435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Straight Connector 436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Straight Connector 437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Straight Connector 438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TextBox 439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16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Box 440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42" name="Picture 441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443" name="Picture 442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444" name="TextBox 443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Freeform: Shape 444"/>
          <p:cNvSpPr/>
          <p:nvPr/>
        </p:nvSpPr>
        <p:spPr>
          <a:xfrm>
            <a:off x="1371600" y="1920240"/>
            <a:ext cx="5429160" cy="177480"/>
          </a:xfrm>
          <a:custGeom>
            <a:avLst/>
            <a:gdLst/>
            <a:ahLst/>
            <a:cxnLst/>
            <a:rect l="0" t="0" r="r" b="b"/>
            <a:pathLst>
              <a:path w="15081" h="493">
                <a:moveTo>
                  <a:pt x="0" y="493"/>
                </a:moveTo>
                <a:lnTo>
                  <a:pt x="15081" y="493"/>
                </a:lnTo>
                <a:lnTo>
                  <a:pt x="15081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TextBox 445"/>
          <p:cNvSpPr txBox="1"/>
          <p:nvPr/>
        </p:nvSpPr>
        <p:spPr>
          <a:xfrm>
            <a:off x="1144440" y="195552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Freeform: Shape 446"/>
          <p:cNvSpPr/>
          <p:nvPr/>
        </p:nvSpPr>
        <p:spPr>
          <a:xfrm>
            <a:off x="1371600" y="2186640"/>
            <a:ext cx="5056920" cy="177480"/>
          </a:xfrm>
          <a:custGeom>
            <a:avLst/>
            <a:gdLst/>
            <a:ahLst/>
            <a:cxnLst/>
            <a:rect l="0" t="0" r="r" b="b"/>
            <a:pathLst>
              <a:path w="14047" h="493">
                <a:moveTo>
                  <a:pt x="0" y="493"/>
                </a:moveTo>
                <a:lnTo>
                  <a:pt x="14047" y="493"/>
                </a:lnTo>
                <a:lnTo>
                  <a:pt x="14047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TextBox 447"/>
          <p:cNvSpPr txBox="1"/>
          <p:nvPr/>
        </p:nvSpPr>
        <p:spPr>
          <a:xfrm>
            <a:off x="1373040" y="1919880"/>
            <a:ext cx="5476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Select the appropriate target application (check the target application)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Freeform: Shape 448"/>
          <p:cNvSpPr/>
          <p:nvPr/>
        </p:nvSpPr>
        <p:spPr>
          <a:xfrm>
            <a:off x="1371600" y="2453400"/>
            <a:ext cx="3580200" cy="177480"/>
          </a:xfrm>
          <a:custGeom>
            <a:avLst/>
            <a:gdLst/>
            <a:ahLst/>
            <a:cxnLst/>
            <a:rect l="0" t="0" r="r" b="b"/>
            <a:pathLst>
              <a:path w="9945" h="493">
                <a:moveTo>
                  <a:pt x="0" y="493"/>
                </a:moveTo>
                <a:lnTo>
                  <a:pt x="9945" y="493"/>
                </a:lnTo>
                <a:lnTo>
                  <a:pt x="9945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TextBox 449"/>
          <p:cNvSpPr txBox="1"/>
          <p:nvPr/>
        </p:nvSpPr>
        <p:spPr>
          <a:xfrm>
            <a:off x="1373040" y="2186640"/>
            <a:ext cx="5104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→ click on Seed →Successfully seeded translatable text. (message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TextBox 450"/>
          <p:cNvSpPr txBox="1"/>
          <p:nvPr/>
        </p:nvSpPr>
        <p:spPr>
          <a:xfrm>
            <a:off x="1373040" y="2453040"/>
            <a:ext cx="3580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should appear) →Requires Synchronization -No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Freeform: Shape 451"/>
          <p:cNvSpPr/>
          <p:nvPr/>
        </p:nvSpPr>
        <p:spPr>
          <a:xfrm>
            <a:off x="1371600" y="2720160"/>
            <a:ext cx="3179880" cy="177480"/>
          </a:xfrm>
          <a:custGeom>
            <a:avLst/>
            <a:gdLst/>
            <a:ahLst/>
            <a:cxnLst/>
            <a:rect l="0" t="0" r="r" b="b"/>
            <a:pathLst>
              <a:path w="8833" h="493">
                <a:moveTo>
                  <a:pt x="0" y="493"/>
                </a:moveTo>
                <a:lnTo>
                  <a:pt x="8833" y="493"/>
                </a:lnTo>
                <a:lnTo>
                  <a:pt x="8833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TextBox 452"/>
          <p:cNvSpPr txBox="1"/>
          <p:nvPr/>
        </p:nvSpPr>
        <p:spPr>
          <a:xfrm>
            <a:off x="1144440" y="27558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TextBox 453"/>
          <p:cNvSpPr txBox="1"/>
          <p:nvPr/>
        </p:nvSpPr>
        <p:spPr>
          <a:xfrm>
            <a:off x="1373040" y="2719800"/>
            <a:ext cx="3179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Seed the selected Translated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TextBox 454"/>
          <p:cNvSpPr txBox="1"/>
          <p:nvPr/>
        </p:nvSpPr>
        <p:spPr>
          <a:xfrm>
            <a:off x="915840" y="5945760"/>
            <a:ext cx="2452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3)Translation of Application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TextBox 455"/>
          <p:cNvSpPr txBox="1"/>
          <p:nvPr/>
        </p:nvSpPr>
        <p:spPr>
          <a:xfrm>
            <a:off x="1373040" y="6251760"/>
            <a:ext cx="4398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To translate an application, we have 2 options to do this.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TextBox 456"/>
          <p:cNvSpPr txBox="1"/>
          <p:nvPr/>
        </p:nvSpPr>
        <p:spPr>
          <a:xfrm>
            <a:off x="1373040" y="6518520"/>
            <a:ext cx="5456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Approach 1</a:t>
            </a:r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-Click Seed →Manual Translation in Translation Repository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TextBox 457"/>
          <p:cNvSpPr txBox="1"/>
          <p:nvPr/>
        </p:nvSpPr>
        <p:spPr>
          <a:xfrm>
            <a:off x="1373040" y="6785280"/>
            <a:ext cx="5017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(Label and Message translation) →Publish Translated application.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TextBox 458"/>
          <p:cNvSpPr txBox="1"/>
          <p:nvPr/>
        </p:nvSpPr>
        <p:spPr>
          <a:xfrm>
            <a:off x="1373040" y="7051680"/>
            <a:ext cx="5097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Approach 2 </a:t>
            </a:r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-You can also Seed →Download XLIFF translation File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TextBox 459"/>
          <p:cNvSpPr txBox="1"/>
          <p:nvPr/>
        </p:nvSpPr>
        <p:spPr>
          <a:xfrm>
            <a:off x="1373040" y="7318440"/>
            <a:ext cx="4292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→Apply Translation File →Publish Translated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" name="TextBox 460"/>
          <p:cNvSpPr txBox="1"/>
          <p:nvPr/>
        </p:nvSpPr>
        <p:spPr>
          <a:xfrm>
            <a:off x="1144440" y="76212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TextBox 461"/>
          <p:cNvSpPr txBox="1"/>
          <p:nvPr/>
        </p:nvSpPr>
        <p:spPr>
          <a:xfrm>
            <a:off x="1373040" y="7585200"/>
            <a:ext cx="5519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After Seeding →Translation Repository →Select the page number where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TextBox 462"/>
          <p:cNvSpPr txBox="1"/>
          <p:nvPr/>
        </p:nvSpPr>
        <p:spPr>
          <a:xfrm>
            <a:off x="1373040" y="7851960"/>
            <a:ext cx="4863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you want to translated text → Edit →Type the translated text in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TextBox 463"/>
          <p:cNvSpPr txBox="1"/>
          <p:nvPr/>
        </p:nvSpPr>
        <p:spPr>
          <a:xfrm>
            <a:off x="1373040" y="8118720"/>
            <a:ext cx="5458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“Translate to Text” Box → Check all the occurrences if needed → Apply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TextBox 464"/>
          <p:cNvSpPr txBox="1"/>
          <p:nvPr/>
        </p:nvSpPr>
        <p:spPr>
          <a:xfrm>
            <a:off x="1373040" y="8385480"/>
            <a:ext cx="68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changes.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1144440" y="86878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TextBox 466"/>
          <p:cNvSpPr txBox="1"/>
          <p:nvPr/>
        </p:nvSpPr>
        <p:spPr>
          <a:xfrm>
            <a:off x="1373040" y="8651880"/>
            <a:ext cx="2353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Publish Translated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Straight Connector 467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" name="Straight Connector 468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Straight Connector 469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Straight Connector 470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72" name="Picture 471"/>
          <p:cNvPicPr/>
          <p:nvPr/>
        </p:nvPicPr>
        <p:blipFill>
          <a:blip r:embed="rId4"/>
          <a:stretch/>
        </p:blipFill>
        <p:spPr>
          <a:xfrm>
            <a:off x="1212120" y="3315960"/>
            <a:ext cx="5645520" cy="2539800"/>
          </a:xfrm>
          <a:prstGeom prst="rect">
            <a:avLst/>
          </a:prstGeom>
          <a:ln w="0">
            <a:noFill/>
          </a:ln>
        </p:spPr>
      </p:pic>
      <p:sp>
        <p:nvSpPr>
          <p:cNvPr id="473" name="TextBox 472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17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extBox 473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75" name="Picture 474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476" name="Picture 475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477" name="TextBox 476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TextBox 477"/>
          <p:cNvSpPr txBox="1"/>
          <p:nvPr/>
        </p:nvSpPr>
        <p:spPr>
          <a:xfrm>
            <a:off x="1144440" y="15732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TextBox 478"/>
          <p:cNvSpPr txBox="1"/>
          <p:nvPr/>
        </p:nvSpPr>
        <p:spPr>
          <a:xfrm>
            <a:off x="1373040" y="1537560"/>
            <a:ext cx="5368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After seeding, Click Translation Repository to change the translatable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TextBox 479"/>
          <p:cNvSpPr txBox="1"/>
          <p:nvPr/>
        </p:nvSpPr>
        <p:spPr>
          <a:xfrm>
            <a:off x="1373040" y="1804320"/>
            <a:ext cx="351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text.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TextBox 480"/>
          <p:cNvSpPr txBox="1"/>
          <p:nvPr/>
        </p:nvSpPr>
        <p:spPr>
          <a:xfrm>
            <a:off x="915840" y="3277440"/>
            <a:ext cx="5456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Approach 1</a:t>
            </a:r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-Click Seed →Manual Translation in Translation Repository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82" name="Picture 481"/>
          <p:cNvPicPr/>
          <p:nvPr/>
        </p:nvPicPr>
        <p:blipFill>
          <a:blip r:embed="rId4"/>
          <a:stretch/>
        </p:blipFill>
        <p:spPr>
          <a:xfrm>
            <a:off x="1632600" y="3585960"/>
            <a:ext cx="5193360" cy="3150000"/>
          </a:xfrm>
          <a:prstGeom prst="rect">
            <a:avLst/>
          </a:prstGeom>
          <a:ln w="0">
            <a:noFill/>
          </a:ln>
        </p:spPr>
      </p:pic>
      <p:sp>
        <p:nvSpPr>
          <p:cNvPr id="483" name="TextBox 482"/>
          <p:cNvSpPr txBox="1"/>
          <p:nvPr/>
        </p:nvSpPr>
        <p:spPr>
          <a:xfrm>
            <a:off x="915840" y="3544200"/>
            <a:ext cx="2518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→Publish Translated application.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TextBox 483"/>
          <p:cNvSpPr txBox="1"/>
          <p:nvPr/>
        </p:nvSpPr>
        <p:spPr>
          <a:xfrm>
            <a:off x="915840" y="6504480"/>
            <a:ext cx="1460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Label translation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TextBox 484"/>
          <p:cNvSpPr txBox="1"/>
          <p:nvPr/>
        </p:nvSpPr>
        <p:spPr>
          <a:xfrm>
            <a:off x="1144440" y="68464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TextBox 485"/>
          <p:cNvSpPr txBox="1"/>
          <p:nvPr/>
        </p:nvSpPr>
        <p:spPr>
          <a:xfrm>
            <a:off x="1373040" y="6810480"/>
            <a:ext cx="5221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In Translation repository, we can Change the label of an application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TextBox 486"/>
          <p:cNvSpPr txBox="1"/>
          <p:nvPr/>
        </p:nvSpPr>
        <p:spPr>
          <a:xfrm>
            <a:off x="1373040" y="7014960"/>
            <a:ext cx="5339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by selecting the page number and browse the column description for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TextBox 487"/>
          <p:cNvSpPr txBox="1"/>
          <p:nvPr/>
        </p:nvSpPr>
        <p:spPr>
          <a:xfrm>
            <a:off x="1373040" y="7219440"/>
            <a:ext cx="4042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labels and translate the labels and other Page items.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Straight Connector 488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Straight Connector 489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Straight Connector 490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Straight Connector 491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TextBox 492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18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TextBox 493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95" name="Picture 494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496" name="Picture 495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pic>
        <p:nvPicPr>
          <p:cNvPr id="497" name="Picture 496"/>
          <p:cNvPicPr/>
          <p:nvPr/>
        </p:nvPicPr>
        <p:blipFill>
          <a:blip r:embed="rId4"/>
          <a:stretch/>
        </p:blipFill>
        <p:spPr>
          <a:xfrm>
            <a:off x="1393200" y="1198800"/>
            <a:ext cx="5657400" cy="3075480"/>
          </a:xfrm>
          <a:prstGeom prst="rect">
            <a:avLst/>
          </a:prstGeom>
          <a:ln w="0">
            <a:noFill/>
          </a:ln>
        </p:spPr>
      </p:pic>
      <p:sp>
        <p:nvSpPr>
          <p:cNvPr id="498" name="TextBox 497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TextBox 498"/>
          <p:cNvSpPr txBox="1"/>
          <p:nvPr/>
        </p:nvSpPr>
        <p:spPr>
          <a:xfrm>
            <a:off x="1144440" y="451224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TextBox 499"/>
          <p:cNvSpPr txBox="1"/>
          <p:nvPr/>
        </p:nvSpPr>
        <p:spPr>
          <a:xfrm>
            <a:off x="1373040" y="4476240"/>
            <a:ext cx="531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Translate the text which you want to change in German using Online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01" name="Picture 500"/>
          <p:cNvPicPr/>
          <p:nvPr/>
        </p:nvPicPr>
        <p:blipFill>
          <a:blip r:embed="rId5"/>
          <a:stretch/>
        </p:blipFill>
        <p:spPr>
          <a:xfrm>
            <a:off x="894600" y="4558680"/>
            <a:ext cx="5470920" cy="3482640"/>
          </a:xfrm>
          <a:prstGeom prst="rect">
            <a:avLst/>
          </a:prstGeom>
          <a:ln w="0">
            <a:noFill/>
          </a:ln>
        </p:spPr>
      </p:pic>
      <p:sp>
        <p:nvSpPr>
          <p:cNvPr id="502" name="TextBox 501"/>
          <p:cNvSpPr txBox="1"/>
          <p:nvPr/>
        </p:nvSpPr>
        <p:spPr>
          <a:xfrm>
            <a:off x="1373040" y="4680720"/>
            <a:ext cx="2279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Translator and Apply changes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TextBox 502"/>
          <p:cNvSpPr txBox="1"/>
          <p:nvPr/>
        </p:nvSpPr>
        <p:spPr>
          <a:xfrm>
            <a:off x="915840" y="7839360"/>
            <a:ext cx="1832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Message Translation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TextBox 503"/>
          <p:cNvSpPr txBox="1"/>
          <p:nvPr/>
        </p:nvSpPr>
        <p:spPr>
          <a:xfrm>
            <a:off x="1144440" y="83854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TextBox 504"/>
          <p:cNvSpPr txBox="1"/>
          <p:nvPr/>
        </p:nvSpPr>
        <p:spPr>
          <a:xfrm>
            <a:off x="1373040" y="8349840"/>
            <a:ext cx="5429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In Translation repository, browse for column description with message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TextBox 505"/>
          <p:cNvSpPr txBox="1"/>
          <p:nvPr/>
        </p:nvSpPr>
        <p:spPr>
          <a:xfrm>
            <a:off x="1373040" y="8554320"/>
            <a:ext cx="3598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and translate the message and Apply changes.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Straight Connector 506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Straight Connector 507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Straight Connector 508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Straight Connector 509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TextBox 510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19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Box 511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13" name="Picture 512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514" name="Picture 513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pic>
        <p:nvPicPr>
          <p:cNvPr id="515" name="Picture 514"/>
          <p:cNvPicPr/>
          <p:nvPr/>
        </p:nvPicPr>
        <p:blipFill>
          <a:blip r:embed="rId4"/>
          <a:stretch/>
        </p:blipFill>
        <p:spPr>
          <a:xfrm>
            <a:off x="1347480" y="1210320"/>
            <a:ext cx="5941440" cy="3341520"/>
          </a:xfrm>
          <a:prstGeom prst="rect">
            <a:avLst/>
          </a:prstGeom>
          <a:ln w="0">
            <a:noFill/>
          </a:ln>
        </p:spPr>
      </p:pic>
      <p:pic>
        <p:nvPicPr>
          <p:cNvPr id="516" name="Picture 515"/>
          <p:cNvPicPr/>
          <p:nvPr/>
        </p:nvPicPr>
        <p:blipFill>
          <a:blip r:embed="rId5"/>
          <a:stretch/>
        </p:blipFill>
        <p:spPr>
          <a:xfrm>
            <a:off x="1314360" y="3890160"/>
            <a:ext cx="5943240" cy="3342960"/>
          </a:xfrm>
          <a:prstGeom prst="rect">
            <a:avLst/>
          </a:prstGeom>
          <a:ln w="0">
            <a:noFill/>
          </a:ln>
        </p:spPr>
      </p:pic>
      <p:sp>
        <p:nvSpPr>
          <p:cNvPr id="517" name="TextBox 516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TextBox 517"/>
          <p:cNvSpPr txBox="1"/>
          <p:nvPr/>
        </p:nvSpPr>
        <p:spPr>
          <a:xfrm>
            <a:off x="1144440" y="709272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TextBox 518"/>
          <p:cNvSpPr txBox="1"/>
          <p:nvPr/>
        </p:nvSpPr>
        <p:spPr>
          <a:xfrm>
            <a:off x="1373040" y="7057080"/>
            <a:ext cx="4392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After translation, we must Publish Translated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Straight Connector 519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Straight Connector 520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Straight Connector 521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Straight Connector 522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Freeform: Shape 523"/>
          <p:cNvSpPr/>
          <p:nvPr/>
        </p:nvSpPr>
        <p:spPr>
          <a:xfrm>
            <a:off x="1746000" y="3660480"/>
            <a:ext cx="3282840" cy="335160"/>
          </a:xfrm>
          <a:custGeom>
            <a:avLst/>
            <a:gdLst/>
            <a:ahLst/>
            <a:cxnLst/>
            <a:rect l="0" t="0" r="r" b="b"/>
            <a:pathLst>
              <a:path w="9119" h="931">
                <a:moveTo>
                  <a:pt x="4560" y="931"/>
                </a:moveTo>
                <a:lnTo>
                  <a:pt x="0" y="931"/>
                </a:lnTo>
                <a:lnTo>
                  <a:pt x="0" y="0"/>
                </a:lnTo>
                <a:lnTo>
                  <a:pt x="9119" y="0"/>
                </a:lnTo>
                <a:lnTo>
                  <a:pt x="9119" y="931"/>
                </a:lnTo>
                <a:lnTo>
                  <a:pt x="4560" y="931"/>
                </a:lnTo>
                <a:close/>
              </a:path>
            </a:pathLst>
          </a:custGeom>
          <a:noFill/>
          <a:ln w="12600">
            <a:solidFill>
              <a:srgbClr val="FFFF00"/>
            </a:solidFill>
            <a:miter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Freeform: Shape 524"/>
          <p:cNvSpPr/>
          <p:nvPr/>
        </p:nvSpPr>
        <p:spPr>
          <a:xfrm>
            <a:off x="2407680" y="5421960"/>
            <a:ext cx="2261520" cy="735120"/>
          </a:xfrm>
          <a:custGeom>
            <a:avLst/>
            <a:gdLst/>
            <a:ahLst/>
            <a:cxnLst/>
            <a:rect l="0" t="0" r="r" b="b"/>
            <a:pathLst>
              <a:path w="6282" h="2042">
                <a:moveTo>
                  <a:pt x="3143" y="2042"/>
                </a:moveTo>
                <a:lnTo>
                  <a:pt x="0" y="2042"/>
                </a:lnTo>
                <a:lnTo>
                  <a:pt x="0" y="0"/>
                </a:lnTo>
                <a:lnTo>
                  <a:pt x="6282" y="0"/>
                </a:lnTo>
                <a:lnTo>
                  <a:pt x="6282" y="2042"/>
                </a:lnTo>
                <a:lnTo>
                  <a:pt x="3143" y="2042"/>
                </a:lnTo>
                <a:close/>
              </a:path>
            </a:pathLst>
          </a:custGeom>
          <a:noFill/>
          <a:ln w="12600">
            <a:solidFill>
              <a:srgbClr val="FFFF00"/>
            </a:solidFill>
            <a:miter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TextBox 525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20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Box 526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28" name="Picture 527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529" name="Picture 528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pic>
        <p:nvPicPr>
          <p:cNvPr id="530" name="Picture 529"/>
          <p:cNvPicPr/>
          <p:nvPr/>
        </p:nvPicPr>
        <p:blipFill>
          <a:blip r:embed="rId4"/>
          <a:stretch/>
        </p:blipFill>
        <p:spPr>
          <a:xfrm>
            <a:off x="1358280" y="1247760"/>
            <a:ext cx="5453640" cy="2980800"/>
          </a:xfrm>
          <a:prstGeom prst="rect">
            <a:avLst/>
          </a:prstGeom>
          <a:ln w="0">
            <a:noFill/>
          </a:ln>
        </p:spPr>
      </p:pic>
      <p:sp>
        <p:nvSpPr>
          <p:cNvPr id="531" name="TextBox 530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TextBox 531"/>
          <p:cNvSpPr txBox="1"/>
          <p:nvPr/>
        </p:nvSpPr>
        <p:spPr>
          <a:xfrm>
            <a:off x="1144440" y="430632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TextBox 532"/>
          <p:cNvSpPr txBox="1"/>
          <p:nvPr/>
        </p:nvSpPr>
        <p:spPr>
          <a:xfrm>
            <a:off x="1373040" y="4270680"/>
            <a:ext cx="5869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Check   the   box   which   Application   you   want   to   translate   and   then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34" name="Picture 533"/>
          <p:cNvPicPr/>
          <p:nvPr/>
        </p:nvPicPr>
        <p:blipFill>
          <a:blip r:embed="rId5"/>
          <a:stretch/>
        </p:blipFill>
        <p:spPr>
          <a:xfrm>
            <a:off x="1371600" y="4411440"/>
            <a:ext cx="5828400" cy="3355560"/>
          </a:xfrm>
          <a:prstGeom prst="rect">
            <a:avLst/>
          </a:prstGeom>
          <a:ln w="0">
            <a:noFill/>
          </a:ln>
        </p:spPr>
      </p:pic>
      <p:sp>
        <p:nvSpPr>
          <p:cNvPr id="535" name="TextBox 534"/>
          <p:cNvSpPr txBox="1"/>
          <p:nvPr/>
        </p:nvSpPr>
        <p:spPr>
          <a:xfrm>
            <a:off x="1373040" y="4475160"/>
            <a:ext cx="593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Publish.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" name="TextBox 535"/>
          <p:cNvSpPr txBox="1"/>
          <p:nvPr/>
        </p:nvSpPr>
        <p:spPr>
          <a:xfrm>
            <a:off x="915840" y="7853400"/>
            <a:ext cx="5234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000000"/>
                </a:solidFill>
                <a:latin typeface="DejaVu Sans"/>
                <a:ea typeface="DejaVu Sans"/>
              </a:rPr>
              <a:t>Approach2 </a:t>
            </a:r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-You can also translate an application by uploading the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TextBox 536"/>
          <p:cNvSpPr txBox="1"/>
          <p:nvPr/>
        </p:nvSpPr>
        <p:spPr>
          <a:xfrm>
            <a:off x="915840" y="8119800"/>
            <a:ext cx="1058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translated file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" name="TextBox 537"/>
          <p:cNvSpPr txBox="1"/>
          <p:nvPr/>
        </p:nvSpPr>
        <p:spPr>
          <a:xfrm>
            <a:off x="915840" y="8488080"/>
            <a:ext cx="5567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Seed-&gt;Download XLIFF translation File-&gt;Apply Translation File-&gt;Publish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TextBox 538"/>
          <p:cNvSpPr txBox="1"/>
          <p:nvPr/>
        </p:nvSpPr>
        <p:spPr>
          <a:xfrm>
            <a:off x="915840" y="8754840"/>
            <a:ext cx="1699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Translated application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Straight Connector 539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" name="Straight Connector 540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Straight Connector 541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" name="Straight Connector 542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TextBox 543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21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TextBox 544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46" name="Picture 545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547" name="Picture 546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548" name="TextBox 547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Freeform: Shape 548"/>
          <p:cNvSpPr/>
          <p:nvPr/>
        </p:nvSpPr>
        <p:spPr>
          <a:xfrm>
            <a:off x="1371600" y="1537920"/>
            <a:ext cx="4741920" cy="177480"/>
          </a:xfrm>
          <a:custGeom>
            <a:avLst/>
            <a:gdLst/>
            <a:ahLst/>
            <a:cxnLst/>
            <a:rect l="0" t="0" r="r" b="b"/>
            <a:pathLst>
              <a:path w="13172" h="493">
                <a:moveTo>
                  <a:pt x="0" y="493"/>
                </a:moveTo>
                <a:lnTo>
                  <a:pt x="13172" y="493"/>
                </a:lnTo>
                <a:lnTo>
                  <a:pt x="13172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" name="TextBox 549"/>
          <p:cNvSpPr txBox="1"/>
          <p:nvPr/>
        </p:nvSpPr>
        <p:spPr>
          <a:xfrm>
            <a:off x="1144440" y="15732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Freeform: Shape 550"/>
          <p:cNvSpPr/>
          <p:nvPr/>
        </p:nvSpPr>
        <p:spPr>
          <a:xfrm>
            <a:off x="1371600" y="1742400"/>
            <a:ext cx="3578760" cy="177480"/>
          </a:xfrm>
          <a:custGeom>
            <a:avLst/>
            <a:gdLst/>
            <a:ahLst/>
            <a:cxnLst/>
            <a:rect l="0" t="0" r="r" b="b"/>
            <a:pathLst>
              <a:path w="9941" h="493">
                <a:moveTo>
                  <a:pt x="0" y="493"/>
                </a:moveTo>
                <a:lnTo>
                  <a:pt x="9941" y="493"/>
                </a:lnTo>
                <a:lnTo>
                  <a:pt x="9941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1373040" y="1537560"/>
            <a:ext cx="4792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Download files with translatable text of whole Application or a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1373040" y="1742040"/>
            <a:ext cx="360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particular page from the translation repository.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Freeform: Shape 553"/>
          <p:cNvSpPr/>
          <p:nvPr/>
        </p:nvSpPr>
        <p:spPr>
          <a:xfrm>
            <a:off x="1371600" y="2124360"/>
            <a:ext cx="5198040" cy="177840"/>
          </a:xfrm>
          <a:custGeom>
            <a:avLst/>
            <a:gdLst/>
            <a:ahLst/>
            <a:cxnLst/>
            <a:rect l="0" t="0" r="r" b="b"/>
            <a:pathLst>
              <a:path w="14439" h="494">
                <a:moveTo>
                  <a:pt x="0" y="494"/>
                </a:moveTo>
                <a:lnTo>
                  <a:pt x="14439" y="494"/>
                </a:lnTo>
                <a:lnTo>
                  <a:pt x="14439" y="0"/>
                </a:lnTo>
                <a:lnTo>
                  <a:pt x="0" y="0"/>
                </a:lnTo>
                <a:lnTo>
                  <a:pt x="0" y="49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TextBox 554"/>
          <p:cNvSpPr txBox="1"/>
          <p:nvPr/>
        </p:nvSpPr>
        <p:spPr>
          <a:xfrm>
            <a:off x="1144440" y="21600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Freeform: Shape 555"/>
          <p:cNvSpPr/>
          <p:nvPr/>
        </p:nvSpPr>
        <p:spPr>
          <a:xfrm>
            <a:off x="1371600" y="2391120"/>
            <a:ext cx="5222160" cy="177480"/>
          </a:xfrm>
          <a:custGeom>
            <a:avLst/>
            <a:gdLst/>
            <a:ahLst/>
            <a:cxnLst/>
            <a:rect l="0" t="0" r="r" b="b"/>
            <a:pathLst>
              <a:path w="14506" h="493">
                <a:moveTo>
                  <a:pt x="0" y="493"/>
                </a:moveTo>
                <a:lnTo>
                  <a:pt x="14506" y="493"/>
                </a:lnTo>
                <a:lnTo>
                  <a:pt x="14506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" name="TextBox 556"/>
          <p:cNvSpPr txBox="1"/>
          <p:nvPr/>
        </p:nvSpPr>
        <p:spPr>
          <a:xfrm>
            <a:off x="1373040" y="2124360"/>
            <a:ext cx="5244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Select language (translating language :de)→ Download XLIFF file for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Freeform: Shape 557"/>
          <p:cNvSpPr/>
          <p:nvPr/>
        </p:nvSpPr>
        <p:spPr>
          <a:xfrm>
            <a:off x="1371600" y="2657880"/>
            <a:ext cx="1379160" cy="177480"/>
          </a:xfrm>
          <a:custGeom>
            <a:avLst/>
            <a:gdLst/>
            <a:ahLst/>
            <a:cxnLst/>
            <a:rect l="0" t="0" r="r" b="b"/>
            <a:pathLst>
              <a:path w="3831" h="493">
                <a:moveTo>
                  <a:pt x="0" y="493"/>
                </a:moveTo>
                <a:lnTo>
                  <a:pt x="3831" y="493"/>
                </a:lnTo>
                <a:lnTo>
                  <a:pt x="3831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TextBox 558"/>
          <p:cNvSpPr txBox="1"/>
          <p:nvPr/>
        </p:nvSpPr>
        <p:spPr>
          <a:xfrm>
            <a:off x="1373040" y="2391120"/>
            <a:ext cx="5270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complete application /Download XLIFF for Application Page → Export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TextBox 559"/>
          <p:cNvSpPr txBox="1"/>
          <p:nvPr/>
        </p:nvSpPr>
        <p:spPr>
          <a:xfrm>
            <a:off x="1373040" y="2657520"/>
            <a:ext cx="1378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file for application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TextBox 560"/>
          <p:cNvSpPr txBox="1"/>
          <p:nvPr/>
        </p:nvSpPr>
        <p:spPr>
          <a:xfrm>
            <a:off x="1144440" y="29602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" name="TextBox 561"/>
          <p:cNvSpPr txBox="1"/>
          <p:nvPr/>
        </p:nvSpPr>
        <p:spPr>
          <a:xfrm>
            <a:off x="1373040" y="2924280"/>
            <a:ext cx="3044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Select Download XLIFF Translation files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Freeform: Shape 562"/>
          <p:cNvSpPr/>
          <p:nvPr/>
        </p:nvSpPr>
        <p:spPr>
          <a:xfrm>
            <a:off x="1371600" y="3191400"/>
            <a:ext cx="5365800" cy="177480"/>
          </a:xfrm>
          <a:custGeom>
            <a:avLst/>
            <a:gdLst/>
            <a:ahLst/>
            <a:cxnLst/>
            <a:rect l="0" t="0" r="r" b="b"/>
            <a:pathLst>
              <a:path w="14905" h="493">
                <a:moveTo>
                  <a:pt x="0" y="493"/>
                </a:moveTo>
                <a:lnTo>
                  <a:pt x="14905" y="493"/>
                </a:lnTo>
                <a:lnTo>
                  <a:pt x="14905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TextBox 563"/>
          <p:cNvSpPr txBox="1"/>
          <p:nvPr/>
        </p:nvSpPr>
        <p:spPr>
          <a:xfrm>
            <a:off x="1144440" y="322704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Freeform: Shape 564"/>
          <p:cNvSpPr/>
          <p:nvPr/>
        </p:nvSpPr>
        <p:spPr>
          <a:xfrm>
            <a:off x="1371600" y="3458160"/>
            <a:ext cx="3949560" cy="177480"/>
          </a:xfrm>
          <a:custGeom>
            <a:avLst/>
            <a:gdLst/>
            <a:ahLst/>
            <a:cxnLst/>
            <a:rect l="0" t="0" r="r" b="b"/>
            <a:pathLst>
              <a:path w="10971" h="493">
                <a:moveTo>
                  <a:pt x="0" y="493"/>
                </a:moveTo>
                <a:lnTo>
                  <a:pt x="10971" y="493"/>
                </a:lnTo>
                <a:lnTo>
                  <a:pt x="10971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1373040" y="3191040"/>
            <a:ext cx="5414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Select the language [example: German (de)] and include XLIFF Target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1373040" y="3457800"/>
            <a:ext cx="3949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Elements and Click Export XLIFF file for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144440" y="37602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373040" y="3724560"/>
            <a:ext cx="4903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Open the XLIFF file from downloads in File Explorer and open in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373040" y="3991320"/>
            <a:ext cx="695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Notepad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Freeform: Shape 570"/>
          <p:cNvSpPr/>
          <p:nvPr/>
        </p:nvSpPr>
        <p:spPr>
          <a:xfrm>
            <a:off x="1371600" y="4258080"/>
            <a:ext cx="4937760" cy="177480"/>
          </a:xfrm>
          <a:custGeom>
            <a:avLst/>
            <a:gdLst/>
            <a:ahLst/>
            <a:cxnLst/>
            <a:rect l="0" t="0" r="r" b="b"/>
            <a:pathLst>
              <a:path w="13716" h="493">
                <a:moveTo>
                  <a:pt x="0" y="493"/>
                </a:moveTo>
                <a:lnTo>
                  <a:pt x="13716" y="493"/>
                </a:lnTo>
                <a:lnTo>
                  <a:pt x="13716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TextBox 571"/>
          <p:cNvSpPr txBox="1"/>
          <p:nvPr/>
        </p:nvSpPr>
        <p:spPr>
          <a:xfrm>
            <a:off x="1144440" y="429372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1" strike="noStrike" spc="-1">
                <a:solidFill>
                  <a:srgbClr val="1A1816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Freeform: Shape 572"/>
          <p:cNvSpPr/>
          <p:nvPr/>
        </p:nvSpPr>
        <p:spPr>
          <a:xfrm>
            <a:off x="1371600" y="4524840"/>
            <a:ext cx="4862880" cy="177480"/>
          </a:xfrm>
          <a:custGeom>
            <a:avLst/>
            <a:gdLst/>
            <a:ahLst/>
            <a:cxnLst/>
            <a:rect l="0" t="0" r="r" b="b"/>
            <a:pathLst>
              <a:path w="13508" h="493">
                <a:moveTo>
                  <a:pt x="0" y="493"/>
                </a:moveTo>
                <a:lnTo>
                  <a:pt x="13508" y="493"/>
                </a:lnTo>
                <a:lnTo>
                  <a:pt x="13508" y="0"/>
                </a:lnTo>
                <a:lnTo>
                  <a:pt x="0" y="0"/>
                </a:lnTo>
                <a:lnTo>
                  <a:pt x="0" y="49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TextBox 573"/>
          <p:cNvSpPr txBox="1"/>
          <p:nvPr/>
        </p:nvSpPr>
        <p:spPr>
          <a:xfrm>
            <a:off x="1373040" y="4257720"/>
            <a:ext cx="4984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In notepad , for which Label or button or page item , Change the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75" name="Picture 574"/>
          <p:cNvPicPr/>
          <p:nvPr/>
        </p:nvPicPr>
        <p:blipFill>
          <a:blip r:embed="rId4"/>
          <a:stretch/>
        </p:blipFill>
        <p:spPr>
          <a:xfrm>
            <a:off x="1371600" y="4732200"/>
            <a:ext cx="7092720" cy="4204080"/>
          </a:xfrm>
          <a:prstGeom prst="rect">
            <a:avLst/>
          </a:prstGeom>
          <a:ln w="0">
            <a:noFill/>
          </a:ln>
        </p:spPr>
      </p:pic>
      <p:sp>
        <p:nvSpPr>
          <p:cNvPr id="576" name="TextBox 575"/>
          <p:cNvSpPr txBox="1"/>
          <p:nvPr/>
        </p:nvSpPr>
        <p:spPr>
          <a:xfrm>
            <a:off x="1373040" y="4524480"/>
            <a:ext cx="4862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DejaVu Sans"/>
                <a:ea typeface="DejaVu Sans"/>
              </a:rPr>
              <a:t>translated text in Target as highlighted below and save the file.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TextBox 576"/>
          <p:cNvSpPr txBox="1"/>
          <p:nvPr/>
        </p:nvSpPr>
        <p:spPr>
          <a:xfrm>
            <a:off x="1144440" y="802872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TextBox 577"/>
          <p:cNvSpPr txBox="1"/>
          <p:nvPr/>
        </p:nvSpPr>
        <p:spPr>
          <a:xfrm>
            <a:off x="1373040" y="7993080"/>
            <a:ext cx="5352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The XLIFF file is parsed, and the contents is applied to the translation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" name="TextBox 578"/>
          <p:cNvSpPr txBox="1"/>
          <p:nvPr/>
        </p:nvSpPr>
        <p:spPr>
          <a:xfrm>
            <a:off x="1373040" y="8259480"/>
            <a:ext cx="4854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repository. Once this process is complete, you must publish an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TextBox 579"/>
          <p:cNvSpPr txBox="1"/>
          <p:nvPr/>
        </p:nvSpPr>
        <p:spPr>
          <a:xfrm>
            <a:off x="1373040" y="8526240"/>
            <a:ext cx="2431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application for each translation.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Straight Connector 580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Straight Connector 581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Straight Connector 582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Straight Connector 583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Freeform: Shape 584"/>
          <p:cNvSpPr/>
          <p:nvPr/>
        </p:nvSpPr>
        <p:spPr>
          <a:xfrm>
            <a:off x="1427760" y="7194960"/>
            <a:ext cx="1061640" cy="286200"/>
          </a:xfrm>
          <a:custGeom>
            <a:avLst/>
            <a:gdLst/>
            <a:ahLst/>
            <a:cxnLst/>
            <a:rect l="0" t="0" r="r" b="b"/>
            <a:pathLst>
              <a:path w="2949" h="795">
                <a:moveTo>
                  <a:pt x="1476" y="795"/>
                </a:moveTo>
                <a:lnTo>
                  <a:pt x="0" y="795"/>
                </a:lnTo>
                <a:lnTo>
                  <a:pt x="0" y="0"/>
                </a:lnTo>
                <a:lnTo>
                  <a:pt x="2949" y="0"/>
                </a:lnTo>
                <a:lnTo>
                  <a:pt x="2949" y="795"/>
                </a:lnTo>
                <a:lnTo>
                  <a:pt x="1476" y="795"/>
                </a:lnTo>
                <a:close/>
              </a:path>
            </a:pathLst>
          </a:custGeom>
          <a:noFill/>
          <a:ln w="12600">
            <a:solidFill>
              <a:srgbClr val="FFFF00"/>
            </a:solidFill>
            <a:miter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TextBox 585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22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TextBox 586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88" name="Picture 587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589" name="Picture 588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590" name="TextBox 589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TextBox 590"/>
          <p:cNvSpPr txBox="1"/>
          <p:nvPr/>
        </p:nvSpPr>
        <p:spPr>
          <a:xfrm>
            <a:off x="1144440" y="15732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TextBox 591"/>
          <p:cNvSpPr txBox="1"/>
          <p:nvPr/>
        </p:nvSpPr>
        <p:spPr>
          <a:xfrm>
            <a:off x="1373040" y="1537560"/>
            <a:ext cx="48880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Apply XLIFF translation files →Upload the downloaded XLIFF file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TextBox 592"/>
          <p:cNvSpPr txBox="1"/>
          <p:nvPr/>
        </p:nvSpPr>
        <p:spPr>
          <a:xfrm>
            <a:off x="1373040" y="1804320"/>
            <a:ext cx="835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→Upload →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TextBox 593"/>
          <p:cNvSpPr txBox="1"/>
          <p:nvPr/>
        </p:nvSpPr>
        <p:spPr>
          <a:xfrm>
            <a:off x="1144440" y="220824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" name="TextBox 594"/>
          <p:cNvSpPr txBox="1"/>
          <p:nvPr/>
        </p:nvSpPr>
        <p:spPr>
          <a:xfrm>
            <a:off x="1373040" y="2172600"/>
            <a:ext cx="5190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Select “Apply to Translation” [for example here English to German |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TextBox 595"/>
          <p:cNvSpPr txBox="1"/>
          <p:nvPr/>
        </p:nvSpPr>
        <p:spPr>
          <a:xfrm>
            <a:off x="1373040" y="2439360"/>
            <a:ext cx="4414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108→109(de)] →Check the target Application and Publish.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TextBox 596"/>
          <p:cNvSpPr txBox="1"/>
          <p:nvPr/>
        </p:nvSpPr>
        <p:spPr>
          <a:xfrm>
            <a:off x="1144440" y="28432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Freeform: Shape 597"/>
          <p:cNvSpPr/>
          <p:nvPr/>
        </p:nvSpPr>
        <p:spPr>
          <a:xfrm>
            <a:off x="4077720" y="2806560"/>
            <a:ext cx="37800" cy="174960"/>
          </a:xfrm>
          <a:custGeom>
            <a:avLst/>
            <a:gdLst/>
            <a:ahLst/>
            <a:cxnLst/>
            <a:rect l="0" t="0" r="r" b="b"/>
            <a:pathLst>
              <a:path w="105" h="486">
                <a:moveTo>
                  <a:pt x="0" y="486"/>
                </a:moveTo>
                <a:lnTo>
                  <a:pt x="105" y="486"/>
                </a:lnTo>
                <a:lnTo>
                  <a:pt x="105" y="0"/>
                </a:lnTo>
                <a:lnTo>
                  <a:pt x="0" y="0"/>
                </a:lnTo>
                <a:lnTo>
                  <a:pt x="0" y="48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TextBox 598"/>
          <p:cNvSpPr txBox="1"/>
          <p:nvPr/>
        </p:nvSpPr>
        <p:spPr>
          <a:xfrm>
            <a:off x="1373040" y="2807640"/>
            <a:ext cx="2716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Select Apply XLIFF translation Files.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TextBox 599"/>
          <p:cNvSpPr txBox="1"/>
          <p:nvPr/>
        </p:nvSpPr>
        <p:spPr>
          <a:xfrm>
            <a:off x="4079160" y="281304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1A1816"/>
                </a:solidFill>
                <a:latin typeface="Times New Roman"/>
                <a:ea typeface="Times New Roman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TextBox 600"/>
          <p:cNvSpPr txBox="1"/>
          <p:nvPr/>
        </p:nvSpPr>
        <p:spPr>
          <a:xfrm>
            <a:off x="4117320" y="2807640"/>
            <a:ext cx="159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Click on Upload files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TextBox 601"/>
          <p:cNvSpPr txBox="1"/>
          <p:nvPr/>
        </p:nvSpPr>
        <p:spPr>
          <a:xfrm>
            <a:off x="1144440" y="321156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03" name="Picture 602"/>
          <p:cNvPicPr/>
          <p:nvPr/>
        </p:nvPicPr>
        <p:blipFill>
          <a:blip r:embed="rId4"/>
          <a:stretch/>
        </p:blipFill>
        <p:spPr>
          <a:xfrm>
            <a:off x="1333440" y="3270960"/>
            <a:ext cx="6242400" cy="2340360"/>
          </a:xfrm>
          <a:prstGeom prst="rect">
            <a:avLst/>
          </a:prstGeom>
          <a:ln w="0">
            <a:noFill/>
          </a:ln>
        </p:spPr>
      </p:pic>
      <p:sp>
        <p:nvSpPr>
          <p:cNvPr id="604" name="TextBox 603"/>
          <p:cNvSpPr txBox="1"/>
          <p:nvPr/>
        </p:nvSpPr>
        <p:spPr>
          <a:xfrm>
            <a:off x="1373040" y="3175920"/>
            <a:ext cx="4095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Choose the XLIFF file that has been translated above.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TextBox 604"/>
          <p:cNvSpPr txBox="1"/>
          <p:nvPr/>
        </p:nvSpPr>
        <p:spPr>
          <a:xfrm>
            <a:off x="1144440" y="57034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TextBox 605"/>
          <p:cNvSpPr txBox="1"/>
          <p:nvPr/>
        </p:nvSpPr>
        <p:spPr>
          <a:xfrm>
            <a:off x="1373040" y="5667480"/>
            <a:ext cx="2948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After selecting the file, click on Upload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TextBox 606"/>
          <p:cNvSpPr txBox="1"/>
          <p:nvPr/>
        </p:nvSpPr>
        <p:spPr>
          <a:xfrm>
            <a:off x="1144440" y="600948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TextBox 607"/>
          <p:cNvSpPr txBox="1"/>
          <p:nvPr/>
        </p:nvSpPr>
        <p:spPr>
          <a:xfrm>
            <a:off x="1373040" y="5973480"/>
            <a:ext cx="5284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After uploading the file, check the filename as mentioned below and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TextBox 608"/>
          <p:cNvSpPr txBox="1"/>
          <p:nvPr/>
        </p:nvSpPr>
        <p:spPr>
          <a:xfrm>
            <a:off x="1373040" y="6177960"/>
            <a:ext cx="1221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click on Publish.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Straight Connector 609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Straight Connector 610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Straight Connector 611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Straight Connector 612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" name="TextBox 613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23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TextBox 614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16" name="Picture 615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617" name="Picture 616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pic>
        <p:nvPicPr>
          <p:cNvPr id="618" name="Picture 617"/>
          <p:cNvPicPr/>
          <p:nvPr/>
        </p:nvPicPr>
        <p:blipFill>
          <a:blip r:embed="rId4"/>
          <a:stretch/>
        </p:blipFill>
        <p:spPr>
          <a:xfrm>
            <a:off x="1326600" y="891720"/>
            <a:ext cx="6217560" cy="5762160"/>
          </a:xfrm>
          <a:prstGeom prst="rect">
            <a:avLst/>
          </a:prstGeom>
          <a:ln w="0">
            <a:noFill/>
          </a:ln>
        </p:spPr>
      </p:pic>
      <p:sp>
        <p:nvSpPr>
          <p:cNvPr id="619" name="TextBox 618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TextBox 619"/>
          <p:cNvSpPr txBox="1"/>
          <p:nvPr/>
        </p:nvSpPr>
        <p:spPr>
          <a:xfrm>
            <a:off x="1144440" y="611604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TextBox 620"/>
          <p:cNvSpPr txBox="1"/>
          <p:nvPr/>
        </p:nvSpPr>
        <p:spPr>
          <a:xfrm>
            <a:off x="1373040" y="6080400"/>
            <a:ext cx="4921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It will direct you to Publish translated Application, there click on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TextBox 621"/>
          <p:cNvSpPr txBox="1"/>
          <p:nvPr/>
        </p:nvSpPr>
        <p:spPr>
          <a:xfrm>
            <a:off x="1373040" y="6284880"/>
            <a:ext cx="593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Publish.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TextBox 622"/>
          <p:cNvSpPr txBox="1"/>
          <p:nvPr/>
        </p:nvSpPr>
        <p:spPr>
          <a:xfrm>
            <a:off x="915840" y="8188200"/>
            <a:ext cx="2522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6.5 Test your application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TextBox 623"/>
          <p:cNvSpPr txBox="1"/>
          <p:nvPr/>
        </p:nvSpPr>
        <p:spPr>
          <a:xfrm>
            <a:off x="1373040" y="85111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TextBox 624"/>
          <p:cNvSpPr txBox="1"/>
          <p:nvPr/>
        </p:nvSpPr>
        <p:spPr>
          <a:xfrm>
            <a:off x="1830240" y="8511120"/>
            <a:ext cx="4973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After testing an application yourself, the next step is to ask your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TextBox 625"/>
          <p:cNvSpPr txBox="1"/>
          <p:nvPr/>
        </p:nvSpPr>
        <p:spPr>
          <a:xfrm>
            <a:off x="1373040" y="8777880"/>
            <a:ext cx="4950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users to use the application that is globalized to ensure that the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" name="Straight Connector 626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Straight Connector 627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Straight Connector 628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Straight Connector 629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TextBox 630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24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TextBox 631"/>
          <p:cNvSpPr txBox="1"/>
          <p:nvPr/>
        </p:nvSpPr>
        <p:spPr>
          <a:xfrm>
            <a:off x="4789080" y="457920"/>
            <a:ext cx="678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            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33" name="Picture 632"/>
          <p:cNvPicPr/>
          <p:nvPr/>
        </p:nvPicPr>
        <p:blipFill>
          <a:blip r:embed="rId2"/>
          <a:stretch/>
        </p:blipFill>
        <p:spPr>
          <a:xfrm>
            <a:off x="962640" y="634320"/>
            <a:ext cx="1961640" cy="724320"/>
          </a:xfrm>
          <a:prstGeom prst="rect">
            <a:avLst/>
          </a:prstGeom>
          <a:ln w="0">
            <a:noFill/>
          </a:ln>
        </p:spPr>
      </p:pic>
      <p:pic>
        <p:nvPicPr>
          <p:cNvPr id="634" name="Picture 633"/>
          <p:cNvPicPr/>
          <p:nvPr/>
        </p:nvPicPr>
        <p:blipFill>
          <a:blip r:embed="rId3"/>
          <a:stretch/>
        </p:blipFill>
        <p:spPr>
          <a:xfrm>
            <a:off x="5029200" y="812880"/>
            <a:ext cx="1453320" cy="545760"/>
          </a:xfrm>
          <a:prstGeom prst="rect">
            <a:avLst/>
          </a:prstGeom>
          <a:ln w="0">
            <a:noFill/>
          </a:ln>
        </p:spPr>
      </p:pic>
      <p:sp>
        <p:nvSpPr>
          <p:cNvPr id="635" name="TextBox 634"/>
          <p:cNvSpPr txBox="1"/>
          <p:nvPr/>
        </p:nvSpPr>
        <p:spPr>
          <a:xfrm>
            <a:off x="915840" y="1218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TextBox 635"/>
          <p:cNvSpPr txBox="1"/>
          <p:nvPr/>
        </p:nvSpPr>
        <p:spPr>
          <a:xfrm>
            <a:off x="1373040" y="1537560"/>
            <a:ext cx="5188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translated application is performing well and correctly in a multiple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TextBox 636"/>
          <p:cNvSpPr txBox="1"/>
          <p:nvPr/>
        </p:nvSpPr>
        <p:spPr>
          <a:xfrm>
            <a:off x="1373040" y="1804320"/>
            <a:ext cx="837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languages.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TextBox 637"/>
          <p:cNvSpPr txBox="1"/>
          <p:nvPr/>
        </p:nvSpPr>
        <p:spPr>
          <a:xfrm>
            <a:off x="915840" y="2299320"/>
            <a:ext cx="202464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0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7. CONCLUSION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TextBox 638"/>
          <p:cNvSpPr txBox="1"/>
          <p:nvPr/>
        </p:nvSpPr>
        <p:spPr>
          <a:xfrm>
            <a:off x="1373040" y="2690640"/>
            <a:ext cx="5229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This paper highlights the steps to be performed to ensure a smooth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TextBox 639"/>
          <p:cNvSpPr txBox="1"/>
          <p:nvPr/>
        </p:nvSpPr>
        <p:spPr>
          <a:xfrm>
            <a:off x="1373040" y="2957400"/>
            <a:ext cx="531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transition and start leveraging the apex globalization. After following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TextBox 640"/>
          <p:cNvSpPr txBox="1"/>
          <p:nvPr/>
        </p:nvSpPr>
        <p:spPr>
          <a:xfrm>
            <a:off x="1373040" y="3224160"/>
            <a:ext cx="5007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the mentioned steps it’s advised to run and test your application.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TextBox 641"/>
          <p:cNvSpPr txBox="1"/>
          <p:nvPr/>
        </p:nvSpPr>
        <p:spPr>
          <a:xfrm>
            <a:off x="915840" y="3719160"/>
            <a:ext cx="191628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20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8.REFERENCES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" name="TextBox 642"/>
          <p:cNvSpPr txBox="1"/>
          <p:nvPr/>
        </p:nvSpPr>
        <p:spPr>
          <a:xfrm>
            <a:off x="1144440" y="414504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TextBox 643"/>
          <p:cNvSpPr txBox="1"/>
          <p:nvPr/>
        </p:nvSpPr>
        <p:spPr>
          <a:xfrm>
            <a:off x="1373040" y="4109400"/>
            <a:ext cx="369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467886"/>
                </a:solidFill>
                <a:latin typeface="DejaVu Sans"/>
                <a:ea typeface="DejaVu Sans"/>
              </a:rPr>
              <a:t>Managing Application Globalization (oracle.com)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TextBox 644"/>
          <p:cNvSpPr txBox="1"/>
          <p:nvPr/>
        </p:nvSpPr>
        <p:spPr>
          <a:xfrm>
            <a:off x="1371600" y="41094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467886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Straight Connector 645"/>
          <p:cNvSpPr/>
          <p:nvPr/>
        </p:nvSpPr>
        <p:spPr>
          <a:xfrm>
            <a:off x="1371600" y="4265640"/>
            <a:ext cx="3700800" cy="0"/>
          </a:xfrm>
          <a:prstGeom prst="line">
            <a:avLst/>
          </a:prstGeom>
          <a:ln w="8640">
            <a:solidFill>
              <a:srgbClr val="46788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TextBox 646"/>
          <p:cNvSpPr txBox="1"/>
          <p:nvPr/>
        </p:nvSpPr>
        <p:spPr>
          <a:xfrm>
            <a:off x="5024160" y="41094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467886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TextBox 647"/>
          <p:cNvSpPr txBox="1"/>
          <p:nvPr/>
        </p:nvSpPr>
        <p:spPr>
          <a:xfrm>
            <a:off x="1144440" y="4411800"/>
            <a:ext cx="151920" cy="151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OpenSymbol"/>
                <a:ea typeface="OpenSymbol"/>
              </a:rPr>
              <a:t>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TextBox 648"/>
          <p:cNvSpPr txBox="1"/>
          <p:nvPr/>
        </p:nvSpPr>
        <p:spPr>
          <a:xfrm>
            <a:off x="1373040" y="4375800"/>
            <a:ext cx="5243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467886"/>
                </a:solidFill>
                <a:latin typeface="DejaVu Sans"/>
                <a:ea typeface="DejaVu Sans"/>
              </a:rPr>
              <a:t>https://supphachai.medium.com/enabling-a-multilingual-support-for-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TextBox 649"/>
          <p:cNvSpPr txBox="1"/>
          <p:nvPr/>
        </p:nvSpPr>
        <p:spPr>
          <a:xfrm>
            <a:off x="1371600" y="43758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467886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" name="Straight Connector 650"/>
          <p:cNvSpPr/>
          <p:nvPr/>
        </p:nvSpPr>
        <p:spPr>
          <a:xfrm>
            <a:off x="1371600" y="4532400"/>
            <a:ext cx="5235120" cy="0"/>
          </a:xfrm>
          <a:prstGeom prst="line">
            <a:avLst/>
          </a:prstGeom>
          <a:ln w="8640">
            <a:solidFill>
              <a:srgbClr val="46788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TextBox 651"/>
          <p:cNvSpPr txBox="1"/>
          <p:nvPr/>
        </p:nvSpPr>
        <p:spPr>
          <a:xfrm>
            <a:off x="6558120" y="43758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467886"/>
                </a:solidFill>
                <a:latin typeface="DejaVu Sans"/>
                <a:ea typeface="DejaVu San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" name="Straight Connector 652"/>
          <p:cNvSpPr/>
          <p:nvPr/>
        </p:nvSpPr>
        <p:spPr>
          <a:xfrm>
            <a:off x="1372680" y="4799160"/>
            <a:ext cx="3084840" cy="0"/>
          </a:xfrm>
          <a:prstGeom prst="line">
            <a:avLst/>
          </a:prstGeom>
          <a:ln w="8640">
            <a:solidFill>
              <a:srgbClr val="46788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TextBox 653"/>
          <p:cNvSpPr txBox="1"/>
          <p:nvPr/>
        </p:nvSpPr>
        <p:spPr>
          <a:xfrm>
            <a:off x="1373040" y="4642560"/>
            <a:ext cx="3087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467886"/>
                </a:solidFill>
                <a:latin typeface="DejaVu Sans"/>
                <a:ea typeface="DejaVu Sans"/>
              </a:rPr>
              <a:t>oracle-apex-applications-3b09b9d7b3a2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Straight Connector 654"/>
          <p:cNvSpPr/>
          <p:nvPr/>
        </p:nvSpPr>
        <p:spPr>
          <a:xfrm>
            <a:off x="304560" y="30780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Straight Connector 655"/>
          <p:cNvSpPr/>
          <p:nvPr/>
        </p:nvSpPr>
        <p:spPr>
          <a:xfrm>
            <a:off x="746352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Straight Connector 656"/>
          <p:cNvSpPr/>
          <p:nvPr/>
        </p:nvSpPr>
        <p:spPr>
          <a:xfrm flipH="1">
            <a:off x="304560" y="9749520"/>
            <a:ext cx="71622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Straight Connector 657"/>
          <p:cNvSpPr/>
          <p:nvPr/>
        </p:nvSpPr>
        <p:spPr>
          <a:xfrm flipV="1">
            <a:off x="307800" y="304560"/>
            <a:ext cx="0" cy="944820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TextBox 658"/>
          <p:cNvSpPr txBox="1"/>
          <p:nvPr/>
        </p:nvSpPr>
        <p:spPr>
          <a:xfrm>
            <a:off x="3790800" y="9246240"/>
            <a:ext cx="194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DejaVu Sans"/>
                <a:ea typeface="DejaVu Sans"/>
              </a:rPr>
              <a:t>25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2030</Words>
  <Application>Microsoft Office PowerPoint</Application>
  <PresentationFormat>Custom</PresentationFormat>
  <Paragraphs>422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DejaVu Sans</vt:lpstr>
      <vt:lpstr>OpenSymbol</vt:lpstr>
      <vt:lpstr>Symbol</vt:lpstr>
      <vt:lpstr>Times New Roman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Kumar Tyagi, Mohit</dc:creator>
  <cp:lastModifiedBy>Kumar Tyagi, Mohit</cp:lastModifiedBy>
  <cp:revision>3</cp:revision>
  <dcterms:modified xsi:type="dcterms:W3CDTF">2026-05-11T07:19:24Z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